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day, and thank you for the opportunity to present. This presentation introduces Zetarix, an open-source, model-agnostic artificial intelligence pipeline that we have developed for the Global Hackathon on AI for Digital Trade Regulatory Analysis, jointly organised by UN ESCAP and KMITL.</a:t>
            </a:r>
          </a:p>
          <a:p/>
          <a:p>
            <a:r>
              <a:t>The central objective of the project is to automate approximately eighty percent of the RDTII regulatory workflow — specifically the discovery and description stages — while deliberately preserving a transparent human review step for the remaining twenty percent. Our scope addresses the two mandatory pillars: Pillar 6, Cross-Border Data Flows, and Pillar 7, Domestic Data Protection, at article-level granularity. The entire system is released under the Apache 2.0 licence to ensure it is freely reusable by the policy community. Over the next slides I will outline the problem, our objectives, the system architecture, and the measurable outcomes we are targeting.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me to begin with the problem we set out to solve. At present, the RDTII workflow is almost entirely manual. ESCAP researchers must search government portals by hand, retrieve regulatory documents, read through dense legal text, and then extract structured data — and they must do this at article-level granularity, not merely at the document level.</a:t>
            </a:r>
          </a:p>
          <a:p/>
          <a:p>
            <a:r>
              <a:t>This work spans numerous Asia-Pacific jurisdictions and several languages, which makes it time-intensive and very difficult to scale. Throughput is bounded by researcher availability and by the languages each researcher can read. Furthermore, any regulatory document that is not already in the ESCAP database is easily overlooked. The figures on the right summarise the burden: the effort is essentially one hundred percent manual, it must cover many jurisdictions and languages, and it demands per-article precision. This is precisely the bottleneck our pipeline is designed to relieve.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objectives follow directly from that problem. First, we aim to automate document discovery so that the system can locate relevant regulations even when they lie outside the existing ESCAP database. Second, we target genuine article-level extraction, capturing all six mandatory fields — title, last update, URL, scope, provisions, and impact — for every article.</a:t>
            </a:r>
          </a:p>
          <a:p/>
          <a:p>
            <a:r>
              <a:t>Third, every extracted provision must be mapped to the correct Pillar 6 or Pillar 7 sub-indicator, and each mapping must carry a verifiable citation back to the source. Fourth, the tool must be self-hostable and fully open-source, with no dependency on proprietary infrastructure in production. Fifth — and this is central to our design philosophy — every AI component must be model-agnostic and swappable to open-weight models through configuration alone. Finally, we commit to a human-first review experience: a non-technical interface in which any mapping can be verified, edited, or rejected within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single most important architectural decision in the project: the system is model-agnostic by design. We build on a ports and adapters — also called hexagonal — architecture. The core domain, which contains the business logic of the RDTII workflow, depends only on interfaces, which we call ports. It never references a concrete model directly.</a:t>
            </a:r>
          </a:p>
          <a:p/>
          <a:p>
            <a:r>
              <a:t>Every artificial intelligence component — the large language model, the OCR engine, the captioner, the embedding model, and the graph library — is implemented as an adapter behind one of those ports. As a result, each model is a swappable suggestion rather than a hardcoded commitment. We can run a paid commercial API during development for convenience, and then, for production, resolve every call to an open-weight model such as Llama 3.1 served through Ollama — changing only configuration, with no edits to the domain code. This is not merely an engineering preference: the hackathon rubric explicitly rewards swappability, awarding twenty points in Stage 1 and a further twenty points in Stage 3. The diagram on the right shows the core surrounded by interchangeable adapters.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pipeline as a whole. It runs in five stages. The first four stages cover the discover-to-describe arc that the hackathon requires, and the fifth stage adds our distinctive contribution.</a:t>
            </a:r>
          </a:p>
          <a:p/>
          <a:p>
            <a:r>
              <a:t>In Stage 1, Discovery and Retrieval, a crawler targets national legislation portals, official gazettes, and ministry websites, recording full provenance for every document. In Stage 2, OCR and Captioning, we convert any document format into clean, machine-readable text at below five percent character error rate; importantly, a SigLIP-style caption is produced for each section and becomes the basis for tagging, so the tags are not held hostage to OCR noise. In Stage 3, Tagging and Extraction, each article is multi-label tagged, and a retrieval-augmented generation step extracts all six mandatory fields together with citations and a confidence score. Stage 4 is the Human Review interface, where a non-technical researcher can accept, reject, or edit any mapping in seconds, with each record linked back to its source. Finally, Stage 5 connects the tagged provisions into a weighted, pruned, navigable concept graph — which I will describe in more detail shortly.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5 is what we consider the core architectural contribution of the project, because it goes beyond extraction and turns isolated records into knowledge. After tagging, each article becomes a node. We then draw weighted edges between nodes based on two signals: the overlap of their tags, weighted by inverse document frequency, and the cosine similarity of their embeddings.</a:t>
            </a:r>
          </a:p>
          <a:p/>
          <a:p>
            <a:r>
              <a:t>To keep the graph meaningful and reproducible, we apply pseudo-deterministic threshold pruning: every edge below a calibrated threshold, theta, is removed, and because we fix the random seeds and theta, the same inputs always produce the same graph. We then run community detection using NetworkX and the Louvain method — deliberately chosen because it is BSD-licensed and therefore compatible with our Apache repository. On top of this we apply Formal Concept Analysis to build a generality hierarchy, where provisions with more tags are more specific, and weighted PageRank to rank entry points. The outcome is a navigable map: the reader starts from broad entry-point categories and drills down into ranked, specific sub-topics, with related provisions cross-linked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sets out the technology stack, but the way to read it is important. Each row is a layer that sits behind a port — an interface. The middle column lists the adapter we suggest for development, and the right column lists the open-weight target we resolve to in production. The point is that these are reference suggestions, not hard commitments; any of them can be replaced through configuration.</a:t>
            </a:r>
          </a:p>
          <a:p/>
          <a:p>
            <a:r>
              <a:t>For the language model we may use Claude or GPT in development and Llama 3.1 in production. For captioning we use Qwen2-VL or ColQwen2, both Apache-licensed, with an OCR-text fallback. Embeddings use the multilingual BGE-M3 model. OCR is handled by Tesseract 5 with OpenCV, falling back to PaddleOCR for Southeast Asian scripts. The vector store is pgvector or Chroma, both self-hostable. The graph layer uses NetworkX and an MIT-licensed Formal Concept Analysis library. Backend is FastAPI, frontend is Next.js, and the whole system ships with Docker Compose. Critically, every component is Apache-2.0-compatible, which is a licensing requirement of the competition, and each reused component will be disclosed in the Technical Memo with its licence verified.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design, the project must be credible in practice, so this slide addresses coverage, cost, and sustainability. On coverage, in Round 1 the tool will be evaluated against five to ten documents from three provided countries, including at least one non-English jurisdiction handled by our translation pipeline. The architecture is designed to scale to the ten assigned countries at the finale without any retraining.</a:t>
            </a:r>
          </a:p>
          <a:p/>
          <a:p>
            <a:r>
              <a:t>On cost, the figures are deliberately conservative. In the open-weight configuration, running Llama 3.1 8B locally, the API fee for a fifty-page document is effectively zero; the only cost is cloud GPU compute, approximately five to ten US cents per document at batch rates. If a commercial API is used instead, the cost is roughly ten to twenty-five cents per document. On sustainability, the entire pipeline is self-hostable through Docker on commodity hardware, with no proprietary dependency in production, and its modular design means the OCR engine, the language model, and the vector database can each be upgraded independently over time. Exact benchmarks will be reported in the Technical Memo after empirical testing.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lays out the timeline through to the award ceremony. The immediate milestone is the application submission on the twenty-fifth of May 2026, which comprises our CVs, the concept video, the Technical Memo, and the signed declaration. The shortlist is announced at the end of May, followed by ESCAP and KMITL training workshops in early June.</a:t>
            </a:r>
          </a:p>
          <a:p/>
          <a:p>
            <a:r>
              <a:t>The first major technical checkpoint is the Round 1 submission on the twentieth of July, where the tool is evaluated on three provided countries, followed by the hybrid pitch at the end of that month. The final submission is due on the thirtieth of September, and the award ceremony takes place in Bangkok on the fifteenth of October. Our development plan is sequenced so that a working three-country demonstration is ready well ahead of Round 1, leaving the remaining time for hardening, additional country coverage, and the empirical benchmarking we will report in the memo.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closing, let me restate why we believe this project matters. The primary contribution is not a novel model architecture; it is a complete, deployable, end-to-end pipeline that is purpose-built for the RDTII legal extraction task and that does not currently exist in open-source form.</a:t>
            </a:r>
          </a:p>
          <a:p/>
          <a:p>
            <a:r>
              <a:t>To summarise the four points on screen: first, the system automates approximately eighty percent of the discover-to-describe workflow for Pillars 6 and 7. Second, it is model-agnostic by design, which makes it open-weight capable, fully self-hostable, and released under Apache 2.0. Third, it performs genuine article-level extraction, capturing all six mandatory fields with traceable citations and confidence scores. And fourth, it keeps a human firmly in the loop through a non-technical review interface, while contributing a navigable concept graph that turns isolated provisions into connected knowledge. Thank you very much for your attention; I would be glad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9FC4E6"/>
                </a:solidFill>
                <a:latin typeface="Calibri"/>
              </a:rPr>
              <a:t>GLOBAL HACKATHON ON AI FOR DIGITAL TRADE REGULATORY ANALYSIS  ·  UN ESCAP &amp; KMITL  ·  2026</a:t>
            </a:r>
          </a:p>
        </p:txBody>
      </p:sp>
      <p:sp>
        <p:nvSpPr>
          <p:cNvPr id="5" name="TextBox 4"/>
          <p:cNvSpPr txBox="1"/>
          <p:nvPr/>
        </p:nvSpPr>
        <p:spPr>
          <a:xfrm>
            <a:off x="822960" y="2103120"/>
            <a:ext cx="10607040" cy="1828800"/>
          </a:xfrm>
          <a:prstGeom prst="rect">
            <a:avLst/>
          </a:prstGeom>
          <a:noFill/>
        </p:spPr>
        <p:txBody>
          <a:bodyPr wrap="square" anchor="t" lIns="0" rIns="0" tIns="0" bIns="0">
            <a:spAutoFit/>
          </a:bodyPr>
          <a:lstStyle/>
          <a:p>
            <a:pPr algn="l">
              <a:spcBef>
                <a:spcPts val="0"/>
              </a:spcBef>
              <a:spcAft>
                <a:spcPts val="600"/>
              </a:spcAft>
            </a:pPr>
            <a:r>
              <a:rPr sz="6000" b="1" i="0">
                <a:solidFill>
                  <a:srgbClr val="FFFFFF"/>
                </a:solidFill>
                <a:latin typeface="Georgia"/>
              </a:rPr>
              <a:t>Zetarix</a:t>
            </a:r>
          </a:p>
          <a:p>
            <a:pPr algn="l">
              <a:spcBef>
                <a:spcPts val="0"/>
              </a:spcBef>
              <a:spcAft>
                <a:spcPts val="600"/>
              </a:spcAft>
            </a:pPr>
            <a:r>
              <a:rPr sz="2000" b="0" i="0">
                <a:solidFill>
                  <a:srgbClr val="D7E4F1"/>
                </a:solidFill>
                <a:latin typeface="Calibri"/>
              </a:rPr>
              <a:t>An Open-Source, Model-Agnostic AI Pipeline for Automated Digital Trade Regulatory Analysis Across Asia-Pacific Jurisdictions</a:t>
            </a:r>
          </a:p>
          <a:p>
            <a:pPr algn="l">
              <a:spcBef>
                <a:spcPts val="0"/>
              </a:spcBef>
              <a:spcAft>
                <a:spcPts val="0"/>
              </a:spcAft>
            </a:pPr>
            <a:r>
              <a:rPr sz="1500" b="1" i="0">
                <a:solidFill>
                  <a:srgbClr val="9FC4E6"/>
                </a:solidFill>
                <a:latin typeface="Calibri"/>
              </a:rPr>
              <a:t>RDTII  —  Regional Digital Trade Integration Index (UN ESCAP)</a:t>
            </a:r>
          </a:p>
        </p:txBody>
      </p:sp>
      <p:sp>
        <p:nvSpPr>
          <p:cNvPr id="6" name="Rectangle 5"/>
          <p:cNvSpPr/>
          <p:nvPr/>
        </p:nvSpPr>
        <p:spPr>
          <a:xfrm>
            <a:off x="822960" y="4343400"/>
            <a:ext cx="5486400" cy="254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572000"/>
            <a:ext cx="10058400" cy="1097280"/>
          </a:xfrm>
          <a:prstGeom prst="rect">
            <a:avLst/>
          </a:prstGeom>
          <a:noFill/>
        </p:spPr>
        <p:txBody>
          <a:bodyPr wrap="square" anchor="t" lIns="0" rIns="0" tIns="0" bIns="0">
            <a:spAutoFit/>
          </a:bodyPr>
          <a:lstStyle/>
          <a:p>
            <a:pPr algn="l">
              <a:spcBef>
                <a:spcPts val="0"/>
              </a:spcBef>
              <a:spcAft>
                <a:spcPts val="0"/>
              </a:spcAft>
            </a:pPr>
            <a:r>
              <a:rPr sz="1500" b="0" i="0">
                <a:solidFill>
                  <a:srgbClr val="BFD2E5"/>
                </a:solidFill>
                <a:latin typeface="Calibri"/>
              </a:rPr>
              <a:t>Automating ~80% of the RDTII discover → describe workflow — Pillar 6 (Cross-Border Data Flows) and Pillar 7 (Domestic Data Protection) — at article-level granularity, with transparent human review for the final ~20%.</a:t>
            </a:r>
          </a:p>
        </p:txBody>
      </p:sp>
      <p:sp>
        <p:nvSpPr>
          <p:cNvPr id="8" name="TextBox 7"/>
          <p:cNvSpPr txBox="1"/>
          <p:nvPr/>
        </p:nvSpPr>
        <p:spPr>
          <a:xfrm>
            <a:off x="822960" y="5943600"/>
            <a:ext cx="10058400" cy="457200"/>
          </a:xfrm>
          <a:prstGeom prst="rect">
            <a:avLst/>
          </a:prstGeom>
          <a:noFill/>
        </p:spPr>
        <p:txBody>
          <a:bodyPr wrap="square" anchor="t" lIns="0" rIns="0" tIns="0" bIns="0">
            <a:spAutoFit/>
          </a:bodyPr>
          <a:lstStyle/>
          <a:p>
            <a:pPr algn="l">
              <a:spcBef>
                <a:spcPts val="0"/>
              </a:spcBef>
              <a:spcAft>
                <a:spcPts val="0"/>
              </a:spcAft>
            </a:pPr>
            <a:r>
              <a:rPr sz="1300" b="1" i="0">
                <a:solidFill>
                  <a:srgbClr val="9FC4E6"/>
                </a:solidFill>
                <a:latin typeface="Calibri"/>
              </a:rPr>
              <a:t>Licensed under Apache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THE PROBLEM</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A Manual Workflow That Does Not Scale</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2</a:t>
            </a:r>
          </a:p>
        </p:txBody>
      </p:sp>
      <p:sp>
        <p:nvSpPr>
          <p:cNvPr id="9" name="TextBox 8"/>
          <p:cNvSpPr txBox="1"/>
          <p:nvPr/>
        </p:nvSpPr>
        <p:spPr>
          <a:xfrm>
            <a:off x="640080" y="1783080"/>
            <a:ext cx="5760720" cy="4206240"/>
          </a:xfrm>
          <a:prstGeom prst="rect">
            <a:avLst/>
          </a:prstGeom>
          <a:noFill/>
        </p:spPr>
        <p:txBody>
          <a:bodyPr wrap="square" anchor="t" lIns="0" rIns="0" tIns="0" bIns="0">
            <a:spAutoFit/>
          </a:bodyPr>
          <a:lstStyle/>
          <a:p>
            <a:pPr algn="l">
              <a:spcAft>
                <a:spcPts val="1400"/>
              </a:spcAft>
            </a:pPr>
            <a:r>
              <a:rPr sz="1600" b="1">
                <a:solidFill>
                  <a:srgbClr val="1F6FB2"/>
                </a:solidFill>
                <a:latin typeface="Calibri"/>
              </a:rPr>
              <a:t>—  </a:t>
            </a:r>
            <a:r>
              <a:rPr sz="1600" b="0">
                <a:solidFill>
                  <a:srgbClr val="334455"/>
                </a:solidFill>
                <a:latin typeface="Calibri"/>
              </a:rPr>
              <a:t>ESCAP researchers must manually search government portals, retrieve regulatory documents, read legal text, and extract structured data.</a:t>
            </a:r>
          </a:p>
          <a:p>
            <a:pPr algn="l">
              <a:spcAft>
                <a:spcPts val="1400"/>
              </a:spcAft>
            </a:pPr>
            <a:r>
              <a:rPr sz="1600" b="1">
                <a:solidFill>
                  <a:srgbClr val="1F6FB2"/>
                </a:solidFill>
                <a:latin typeface="Calibri"/>
              </a:rPr>
              <a:t>—  </a:t>
            </a:r>
            <a:r>
              <a:rPr sz="1600" b="0">
                <a:solidFill>
                  <a:srgbClr val="334455"/>
                </a:solidFill>
                <a:latin typeface="Calibri"/>
              </a:rPr>
              <a:t>This is performed at article-level granularity, across many Asia-Pacific jurisdictions and multiple languages.</a:t>
            </a:r>
          </a:p>
          <a:p>
            <a:pPr algn="l">
              <a:spcAft>
                <a:spcPts val="1400"/>
              </a:spcAft>
            </a:pPr>
            <a:r>
              <a:rPr sz="1600" b="1">
                <a:solidFill>
                  <a:srgbClr val="1F6FB2"/>
                </a:solidFill>
                <a:latin typeface="Calibri"/>
              </a:rPr>
              <a:t>—  </a:t>
            </a:r>
            <a:r>
              <a:rPr sz="1600" b="0">
                <a:solidFill>
                  <a:srgbClr val="334455"/>
                </a:solidFill>
                <a:latin typeface="Calibri"/>
              </a:rPr>
              <a:t>The process is time-intensive, difficult to scale, and dependent on researcher availability and language coverage.</a:t>
            </a:r>
          </a:p>
          <a:p>
            <a:pPr algn="l">
              <a:spcAft>
                <a:spcPts val="1400"/>
              </a:spcAft>
            </a:pPr>
            <a:r>
              <a:rPr sz="1600" b="1">
                <a:solidFill>
                  <a:srgbClr val="2E8B6F"/>
                </a:solidFill>
                <a:latin typeface="Calibri"/>
              </a:rPr>
              <a:t>—  </a:t>
            </a:r>
            <a:r>
              <a:rPr sz="1600" b="0">
                <a:solidFill>
                  <a:srgbClr val="334455"/>
                </a:solidFill>
                <a:latin typeface="Calibri"/>
              </a:rPr>
              <a:t>Documents outside the existing ESCAP RDTII database are easily missed.</a:t>
            </a:r>
          </a:p>
        </p:txBody>
      </p:sp>
      <p:sp>
        <p:nvSpPr>
          <p:cNvPr id="10" name="Rectangle 9"/>
          <p:cNvSpPr/>
          <p:nvPr/>
        </p:nvSpPr>
        <p:spPr>
          <a:xfrm>
            <a:off x="6858000" y="1828800"/>
            <a:ext cx="4663440" cy="393192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78040" y="2148840"/>
            <a:ext cx="4023360" cy="3383280"/>
          </a:xfrm>
          <a:prstGeom prst="rect">
            <a:avLst/>
          </a:prstGeom>
          <a:noFill/>
        </p:spPr>
        <p:txBody>
          <a:bodyPr wrap="square" anchor="t" lIns="0" rIns="0" tIns="0" bIns="0">
            <a:spAutoFit/>
          </a:bodyPr>
          <a:lstStyle/>
          <a:p>
            <a:pPr algn="l">
              <a:spcBef>
                <a:spcPts val="0"/>
              </a:spcBef>
              <a:spcAft>
                <a:spcPts val="1400"/>
              </a:spcAft>
            </a:pPr>
            <a:r>
              <a:rPr sz="1200" b="1" i="0">
                <a:solidFill>
                  <a:srgbClr val="6B7B8C"/>
                </a:solidFill>
                <a:latin typeface="Calibri"/>
              </a:rPr>
              <a:t>THE BURDEN TODAY</a:t>
            </a:r>
          </a:p>
          <a:p>
            <a:pPr algn="l">
              <a:spcBef>
                <a:spcPts val="0"/>
              </a:spcBef>
              <a:spcAft>
                <a:spcPts val="0"/>
              </a:spcAft>
            </a:pPr>
            <a:r>
              <a:rPr sz="3400" b="1" i="0">
                <a:solidFill>
                  <a:srgbClr val="1F6FB2"/>
                </a:solidFill>
                <a:latin typeface="Georgia"/>
              </a:rPr>
              <a:t>100%</a:t>
            </a:r>
          </a:p>
          <a:p>
            <a:pPr algn="l">
              <a:spcBef>
                <a:spcPts val="0"/>
              </a:spcBef>
              <a:spcAft>
                <a:spcPts val="1600"/>
              </a:spcAft>
            </a:pPr>
            <a:r>
              <a:rPr sz="1300" b="0" i="0">
                <a:solidFill>
                  <a:srgbClr val="334455"/>
                </a:solidFill>
                <a:latin typeface="Calibri"/>
              </a:rPr>
              <a:t>manual effort — search, read, extract, map</a:t>
            </a:r>
          </a:p>
          <a:p>
            <a:pPr algn="l">
              <a:spcBef>
                <a:spcPts val="0"/>
              </a:spcBef>
              <a:spcAft>
                <a:spcPts val="0"/>
              </a:spcAft>
            </a:pPr>
            <a:r>
              <a:rPr sz="3400" b="1" i="0">
                <a:solidFill>
                  <a:srgbClr val="1F6FB2"/>
                </a:solidFill>
                <a:latin typeface="Georgia"/>
              </a:rPr>
              <a:t>Many</a:t>
            </a:r>
          </a:p>
          <a:p>
            <a:pPr algn="l">
              <a:spcBef>
                <a:spcPts val="0"/>
              </a:spcBef>
              <a:spcAft>
                <a:spcPts val="1600"/>
              </a:spcAft>
            </a:pPr>
            <a:r>
              <a:rPr sz="1300" b="0" i="0">
                <a:solidFill>
                  <a:srgbClr val="334455"/>
                </a:solidFill>
                <a:latin typeface="Calibri"/>
              </a:rPr>
              <a:t>jurisdictions and languages to cover</a:t>
            </a:r>
          </a:p>
          <a:p>
            <a:pPr algn="l">
              <a:spcBef>
                <a:spcPts val="0"/>
              </a:spcBef>
              <a:spcAft>
                <a:spcPts val="0"/>
              </a:spcAft>
            </a:pPr>
            <a:r>
              <a:rPr sz="3400" b="1" i="0">
                <a:solidFill>
                  <a:srgbClr val="1F6FB2"/>
                </a:solidFill>
                <a:latin typeface="Georgia"/>
              </a:rPr>
              <a:t>Per-article</a:t>
            </a:r>
          </a:p>
          <a:p>
            <a:pPr algn="l">
              <a:spcBef>
                <a:spcPts val="0"/>
              </a:spcBef>
              <a:spcAft>
                <a:spcPts val="1600"/>
              </a:spcAft>
            </a:pPr>
            <a:r>
              <a:rPr sz="1300" b="0" i="0">
                <a:solidFill>
                  <a:srgbClr val="334455"/>
                </a:solidFill>
                <a:latin typeface="Calibri"/>
              </a:rPr>
              <a:t>granularity required for every document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OUR GOAL</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Project Objectives</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3</a:t>
            </a:r>
          </a:p>
        </p:txBody>
      </p:sp>
      <p:sp>
        <p:nvSpPr>
          <p:cNvPr id="9" name="Rectangle 8"/>
          <p:cNvSpPr/>
          <p:nvPr/>
        </p:nvSpPr>
        <p:spPr>
          <a:xfrm>
            <a:off x="640080" y="182880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1828800"/>
            <a:ext cx="82296" cy="192024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05740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01</a:t>
            </a:r>
          </a:p>
          <a:p>
            <a:pPr algn="l">
              <a:spcBef>
                <a:spcPts val="0"/>
              </a:spcBef>
              <a:spcAft>
                <a:spcPts val="600"/>
              </a:spcAft>
            </a:pPr>
            <a:r>
              <a:rPr sz="1800" b="1" i="0">
                <a:solidFill>
                  <a:srgbClr val="0E2A47"/>
                </a:solidFill>
                <a:latin typeface="Georgia"/>
              </a:rPr>
              <a:t>Automate discovery</a:t>
            </a:r>
          </a:p>
          <a:p>
            <a:pPr algn="l">
              <a:spcBef>
                <a:spcPts val="0"/>
              </a:spcBef>
              <a:spcAft>
                <a:spcPts val="0"/>
              </a:spcAft>
            </a:pPr>
            <a:r>
              <a:rPr sz="1300" b="0" i="0">
                <a:solidFill>
                  <a:srgbClr val="334455"/>
                </a:solidFill>
                <a:latin typeface="Calibri"/>
              </a:rPr>
              <a:t>Locate regulatory documents beyond the existing ESCAP RDTII database.</a:t>
            </a:r>
          </a:p>
        </p:txBody>
      </p:sp>
      <p:sp>
        <p:nvSpPr>
          <p:cNvPr id="12" name="Rectangle 11"/>
          <p:cNvSpPr/>
          <p:nvPr/>
        </p:nvSpPr>
        <p:spPr>
          <a:xfrm>
            <a:off x="4334256" y="182880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34256" y="1828800"/>
            <a:ext cx="82296" cy="192024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205740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02</a:t>
            </a:r>
          </a:p>
          <a:p>
            <a:pPr algn="l">
              <a:spcBef>
                <a:spcPts val="0"/>
              </a:spcBef>
              <a:spcAft>
                <a:spcPts val="600"/>
              </a:spcAft>
            </a:pPr>
            <a:r>
              <a:rPr sz="1800" b="1" i="0">
                <a:solidFill>
                  <a:srgbClr val="0E2A47"/>
                </a:solidFill>
                <a:latin typeface="Georgia"/>
              </a:rPr>
              <a:t>Article-level extraction</a:t>
            </a:r>
          </a:p>
          <a:p>
            <a:pPr algn="l">
              <a:spcBef>
                <a:spcPts val="0"/>
              </a:spcBef>
              <a:spcAft>
                <a:spcPts val="0"/>
              </a:spcAft>
            </a:pPr>
            <a:r>
              <a:rPr sz="1300" b="0" i="0">
                <a:solidFill>
                  <a:srgbClr val="334455"/>
                </a:solidFill>
                <a:latin typeface="Calibri"/>
              </a:rPr>
              <a:t>Capture all six mandatory fields: title, last update, URL, scope, provisions, impact.</a:t>
            </a:r>
          </a:p>
        </p:txBody>
      </p:sp>
      <p:sp>
        <p:nvSpPr>
          <p:cNvPr id="15" name="Rectangle 14"/>
          <p:cNvSpPr/>
          <p:nvPr/>
        </p:nvSpPr>
        <p:spPr>
          <a:xfrm>
            <a:off x="8028432" y="182880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828800"/>
            <a:ext cx="82296" cy="192024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205740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03</a:t>
            </a:r>
          </a:p>
          <a:p>
            <a:pPr algn="l">
              <a:spcBef>
                <a:spcPts val="0"/>
              </a:spcBef>
              <a:spcAft>
                <a:spcPts val="600"/>
              </a:spcAft>
            </a:pPr>
            <a:r>
              <a:rPr sz="1800" b="1" i="0">
                <a:solidFill>
                  <a:srgbClr val="0E2A47"/>
                </a:solidFill>
                <a:latin typeface="Georgia"/>
              </a:rPr>
              <a:t>Traceable mapping</a:t>
            </a:r>
          </a:p>
          <a:p>
            <a:pPr algn="l">
              <a:spcBef>
                <a:spcPts val="0"/>
              </a:spcBef>
              <a:spcAft>
                <a:spcPts val="0"/>
              </a:spcAft>
            </a:pPr>
            <a:r>
              <a:rPr sz="1300" b="0" i="0">
                <a:solidFill>
                  <a:srgbClr val="334455"/>
                </a:solidFill>
                <a:latin typeface="Calibri"/>
              </a:rPr>
              <a:t>Map provisions to Pillar 6 and 7 sub-indicators with verifiable citations.</a:t>
            </a:r>
          </a:p>
        </p:txBody>
      </p:sp>
      <p:sp>
        <p:nvSpPr>
          <p:cNvPr id="18" name="Rectangle 17"/>
          <p:cNvSpPr/>
          <p:nvPr/>
        </p:nvSpPr>
        <p:spPr>
          <a:xfrm>
            <a:off x="640080" y="393192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931920"/>
            <a:ext cx="82296" cy="192024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16052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04</a:t>
            </a:r>
          </a:p>
          <a:p>
            <a:pPr algn="l">
              <a:spcBef>
                <a:spcPts val="0"/>
              </a:spcBef>
              <a:spcAft>
                <a:spcPts val="600"/>
              </a:spcAft>
            </a:pPr>
            <a:r>
              <a:rPr sz="1800" b="1" i="0">
                <a:solidFill>
                  <a:srgbClr val="0E2A47"/>
                </a:solidFill>
                <a:latin typeface="Georgia"/>
              </a:rPr>
              <a:t>Self-hostable &amp; open</a:t>
            </a:r>
          </a:p>
          <a:p>
            <a:pPr algn="l">
              <a:spcBef>
                <a:spcPts val="0"/>
              </a:spcBef>
              <a:spcAft>
                <a:spcPts val="0"/>
              </a:spcAft>
            </a:pPr>
            <a:r>
              <a:rPr sz="1300" b="0" i="0">
                <a:solidFill>
                  <a:srgbClr val="334455"/>
                </a:solidFill>
                <a:latin typeface="Calibri"/>
              </a:rPr>
              <a:t>Deliver an open-source tool deployable without proprietary infrastructure.</a:t>
            </a:r>
          </a:p>
        </p:txBody>
      </p:sp>
      <p:sp>
        <p:nvSpPr>
          <p:cNvPr id="21" name="Rectangle 20"/>
          <p:cNvSpPr/>
          <p:nvPr/>
        </p:nvSpPr>
        <p:spPr>
          <a:xfrm>
            <a:off x="4334256" y="393192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34256" y="3931920"/>
            <a:ext cx="82296" cy="192024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8576" y="416052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05</a:t>
            </a:r>
          </a:p>
          <a:p>
            <a:pPr algn="l">
              <a:spcBef>
                <a:spcPts val="0"/>
              </a:spcBef>
              <a:spcAft>
                <a:spcPts val="600"/>
              </a:spcAft>
            </a:pPr>
            <a:r>
              <a:rPr sz="1800" b="1" i="0">
                <a:solidFill>
                  <a:srgbClr val="0E2A47"/>
                </a:solidFill>
                <a:latin typeface="Georgia"/>
              </a:rPr>
              <a:t>Model-agnostic</a:t>
            </a:r>
          </a:p>
          <a:p>
            <a:pPr algn="l">
              <a:spcBef>
                <a:spcPts val="0"/>
              </a:spcBef>
              <a:spcAft>
                <a:spcPts val="0"/>
              </a:spcAft>
            </a:pPr>
            <a:r>
              <a:rPr sz="1300" b="0" i="0">
                <a:solidFill>
                  <a:srgbClr val="334455"/>
                </a:solidFill>
                <a:latin typeface="Calibri"/>
              </a:rPr>
              <a:t>Make every AI component swappable to open-weight models (e.g. Llama 3) via config.</a:t>
            </a:r>
          </a:p>
        </p:txBody>
      </p:sp>
      <p:sp>
        <p:nvSpPr>
          <p:cNvPr id="24" name="Rectangle 23"/>
          <p:cNvSpPr/>
          <p:nvPr/>
        </p:nvSpPr>
        <p:spPr>
          <a:xfrm>
            <a:off x="8028432" y="393192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28432" y="3931920"/>
            <a:ext cx="82296" cy="192024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02752" y="416052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06</a:t>
            </a:r>
          </a:p>
          <a:p>
            <a:pPr algn="l">
              <a:spcBef>
                <a:spcPts val="0"/>
              </a:spcBef>
              <a:spcAft>
                <a:spcPts val="600"/>
              </a:spcAft>
            </a:pPr>
            <a:r>
              <a:rPr sz="1800" b="1" i="0">
                <a:solidFill>
                  <a:srgbClr val="0E2A47"/>
                </a:solidFill>
                <a:latin typeface="Georgia"/>
              </a:rPr>
              <a:t>Human-first review</a:t>
            </a:r>
          </a:p>
          <a:p>
            <a:pPr algn="l">
              <a:spcBef>
                <a:spcPts val="0"/>
              </a:spcBef>
              <a:spcAft>
                <a:spcPts val="0"/>
              </a:spcAft>
            </a:pPr>
            <a:r>
              <a:rPr sz="1300" b="0" i="0">
                <a:solidFill>
                  <a:srgbClr val="334455"/>
                </a:solidFill>
                <a:latin typeface="Calibri"/>
              </a:rPr>
              <a:t>Provide a non-technical UI where any mapping can be verified or rejected in seconds.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DESIGN PHILOSOPHY</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Ports &amp; Adapters: A Model-Agnostic Core</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4</a:t>
            </a:r>
          </a:p>
        </p:txBody>
      </p:sp>
      <p:sp>
        <p:nvSpPr>
          <p:cNvPr id="9" name="TextBox 8"/>
          <p:cNvSpPr txBox="1"/>
          <p:nvPr/>
        </p:nvSpPr>
        <p:spPr>
          <a:xfrm>
            <a:off x="640080" y="1783080"/>
            <a:ext cx="5394960" cy="4114800"/>
          </a:xfrm>
          <a:prstGeom prst="rect">
            <a:avLst/>
          </a:prstGeom>
          <a:noFill/>
        </p:spPr>
        <p:txBody>
          <a:bodyPr wrap="square" anchor="t" lIns="0" rIns="0" tIns="0" bIns="0">
            <a:spAutoFit/>
          </a:bodyPr>
          <a:lstStyle/>
          <a:p>
            <a:pPr algn="l">
              <a:spcAft>
                <a:spcPts val="1200"/>
              </a:spcAft>
            </a:pPr>
            <a:r>
              <a:rPr sz="1600" b="1">
                <a:solidFill>
                  <a:srgbClr val="1F6FB2"/>
                </a:solidFill>
                <a:latin typeface="Calibri"/>
              </a:rPr>
              <a:t>—  </a:t>
            </a:r>
            <a:r>
              <a:rPr sz="1600" b="1">
                <a:solidFill>
                  <a:srgbClr val="334455"/>
                </a:solidFill>
                <a:latin typeface="Calibri"/>
              </a:rPr>
              <a:t>Built on ports &amp; adapters (hexagonal) architecture.</a:t>
            </a:r>
          </a:p>
          <a:p>
            <a:pPr algn="l">
              <a:spcAft>
                <a:spcPts val="1200"/>
              </a:spcAft>
            </a:pPr>
            <a:r>
              <a:rPr sz="1500" b="1">
                <a:solidFill>
                  <a:srgbClr val="1F6FB2"/>
                </a:solidFill>
                <a:latin typeface="Calibri"/>
              </a:rPr>
              <a:t>—  </a:t>
            </a:r>
            <a:r>
              <a:rPr sz="1500" b="0">
                <a:solidFill>
                  <a:srgbClr val="334455"/>
                </a:solidFill>
                <a:latin typeface="Calibri"/>
              </a:rPr>
              <a:t>The core domain depends only on interfaces — never on a concrete model.</a:t>
            </a:r>
          </a:p>
          <a:p>
            <a:pPr algn="l">
              <a:spcAft>
                <a:spcPts val="1200"/>
              </a:spcAft>
            </a:pPr>
            <a:r>
              <a:rPr sz="1500" b="1">
                <a:solidFill>
                  <a:srgbClr val="1F6FB2"/>
                </a:solidFill>
                <a:latin typeface="Calibri"/>
              </a:rPr>
              <a:t>—  </a:t>
            </a:r>
            <a:r>
              <a:rPr sz="1500" b="0">
                <a:solidFill>
                  <a:srgbClr val="334455"/>
                </a:solidFill>
                <a:latin typeface="Calibri"/>
              </a:rPr>
              <a:t>Every AI model (LLM, OCR, captioner, embeddings, graph) is a swappable suggestion, changed via config — no domain edits.</a:t>
            </a:r>
          </a:p>
          <a:p>
            <a:pPr algn="l">
              <a:spcAft>
                <a:spcPts val="1200"/>
              </a:spcAft>
            </a:pPr>
            <a:r>
              <a:rPr sz="1500" b="1">
                <a:solidFill>
                  <a:srgbClr val="2E8B6F"/>
                </a:solidFill>
                <a:latin typeface="Calibri"/>
              </a:rPr>
              <a:t>—  </a:t>
            </a:r>
            <a:r>
              <a:rPr sz="1500" b="0">
                <a:solidFill>
                  <a:srgbClr val="334455"/>
                </a:solidFill>
                <a:latin typeface="Calibri"/>
              </a:rPr>
              <a:t>Development can use a paid API; production resolves to open-weight (Llama 3.1 via Ollama) with a single config change.</a:t>
            </a:r>
          </a:p>
          <a:p>
            <a:pPr algn="l">
              <a:spcAft>
                <a:spcPts val="0"/>
              </a:spcAft>
            </a:pPr>
            <a:r>
              <a:rPr sz="1500" b="1">
                <a:solidFill>
                  <a:srgbClr val="2E8B6F"/>
                </a:solidFill>
                <a:latin typeface="Calibri"/>
              </a:rPr>
              <a:t>—  </a:t>
            </a:r>
            <a:r>
              <a:rPr sz="1500" b="1">
                <a:solidFill>
                  <a:srgbClr val="334455"/>
                </a:solidFill>
                <a:latin typeface="Calibri"/>
              </a:rPr>
              <a:t>Swappability is explicitly scored: 20 points in Stage 1 plus 20 points in Stage 3.</a:t>
            </a:r>
          </a:p>
        </p:txBody>
      </p:sp>
      <p:sp>
        <p:nvSpPr>
          <p:cNvPr id="10" name="Rectangle 9"/>
          <p:cNvSpPr/>
          <p:nvPr/>
        </p:nvSpPr>
        <p:spPr>
          <a:xfrm>
            <a:off x="7818120" y="3108960"/>
            <a:ext cx="2103120" cy="10972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3246120"/>
            <a:ext cx="2103120" cy="822960"/>
          </a:xfrm>
          <a:prstGeom prst="rect">
            <a:avLst/>
          </a:prstGeom>
          <a:noFill/>
        </p:spPr>
        <p:txBody>
          <a:bodyPr wrap="square" anchor="ctr" lIns="0" rIns="0" tIns="0" bIns="0">
            <a:spAutoFit/>
          </a:bodyPr>
          <a:lstStyle/>
          <a:p>
            <a:pPr algn="ctr">
              <a:spcBef>
                <a:spcPts val="0"/>
              </a:spcBef>
              <a:spcAft>
                <a:spcPts val="200"/>
              </a:spcAft>
            </a:pPr>
            <a:r>
              <a:rPr sz="1300" b="1" i="0">
                <a:solidFill>
                  <a:srgbClr val="FFFFFF"/>
                </a:solidFill>
                <a:latin typeface="Calibri"/>
              </a:rPr>
              <a:t>CORE DOMAIN</a:t>
            </a:r>
          </a:p>
          <a:p>
            <a:pPr algn="ctr">
              <a:spcBef>
                <a:spcPts val="0"/>
              </a:spcBef>
              <a:spcAft>
                <a:spcPts val="0"/>
              </a:spcAft>
            </a:pPr>
            <a:r>
              <a:rPr sz="1100" b="0" i="1">
                <a:solidFill>
                  <a:srgbClr val="9FC4E6"/>
                </a:solidFill>
                <a:latin typeface="Calibri"/>
              </a:rPr>
              <a:t>ports only</a:t>
            </a:r>
          </a:p>
        </p:txBody>
      </p:sp>
      <p:sp>
        <p:nvSpPr>
          <p:cNvPr id="12" name="Rounded Rectangle 11"/>
          <p:cNvSpPr/>
          <p:nvPr/>
        </p:nvSpPr>
        <p:spPr>
          <a:xfrm>
            <a:off x="6583680" y="192024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LLM</a:t>
            </a:r>
          </a:p>
        </p:txBody>
      </p:sp>
      <p:sp>
        <p:nvSpPr>
          <p:cNvPr id="13" name="Rounded Rectangle 12"/>
          <p:cNvSpPr/>
          <p:nvPr/>
        </p:nvSpPr>
        <p:spPr>
          <a:xfrm>
            <a:off x="9052560" y="192024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OCR</a:t>
            </a:r>
          </a:p>
        </p:txBody>
      </p:sp>
      <p:sp>
        <p:nvSpPr>
          <p:cNvPr id="14" name="Rounded Rectangle 13"/>
          <p:cNvSpPr/>
          <p:nvPr/>
        </p:nvSpPr>
        <p:spPr>
          <a:xfrm>
            <a:off x="10972800" y="320040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Captioner</a:t>
            </a:r>
          </a:p>
        </p:txBody>
      </p:sp>
      <p:sp>
        <p:nvSpPr>
          <p:cNvPr id="15" name="Rounded Rectangle 14"/>
          <p:cNvSpPr/>
          <p:nvPr/>
        </p:nvSpPr>
        <p:spPr>
          <a:xfrm>
            <a:off x="6400800" y="448056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Embeddings</a:t>
            </a:r>
          </a:p>
        </p:txBody>
      </p:sp>
      <p:sp>
        <p:nvSpPr>
          <p:cNvPr id="16" name="Rounded Rectangle 15"/>
          <p:cNvSpPr/>
          <p:nvPr/>
        </p:nvSpPr>
        <p:spPr>
          <a:xfrm>
            <a:off x="9052560" y="448056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Vector store</a:t>
            </a:r>
          </a:p>
        </p:txBody>
      </p:sp>
      <p:sp>
        <p:nvSpPr>
          <p:cNvPr id="17" name="Rounded Rectangle 16"/>
          <p:cNvSpPr/>
          <p:nvPr/>
        </p:nvSpPr>
        <p:spPr>
          <a:xfrm>
            <a:off x="10972800" y="521208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Graph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HOW IT WORKS</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The Five-Stage Pipeline</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5</a:t>
            </a:r>
          </a:p>
        </p:txBody>
      </p:sp>
      <p:sp>
        <p:nvSpPr>
          <p:cNvPr id="9" name="Rectangle 8"/>
          <p:cNvSpPr/>
          <p:nvPr/>
        </p:nvSpPr>
        <p:spPr>
          <a:xfrm>
            <a:off x="640080"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103120"/>
            <a:ext cx="2084831" cy="6400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1</a:t>
            </a:r>
          </a:p>
        </p:txBody>
      </p:sp>
      <p:sp>
        <p:nvSpPr>
          <p:cNvPr id="12" name="TextBox 11"/>
          <p:cNvSpPr txBox="1"/>
          <p:nvPr/>
        </p:nvSpPr>
        <p:spPr>
          <a:xfrm>
            <a:off x="822960"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Discovery &amp; Retrieval</a:t>
            </a:r>
          </a:p>
          <a:p>
            <a:pPr algn="l">
              <a:spcBef>
                <a:spcPts val="0"/>
              </a:spcBef>
              <a:spcAft>
                <a:spcPts val="0"/>
              </a:spcAft>
            </a:pPr>
            <a:r>
              <a:rPr sz="1200" b="0" i="0">
                <a:solidFill>
                  <a:srgbClr val="334455"/>
                </a:solidFill>
                <a:latin typeface="Calibri"/>
              </a:rPr>
              <a:t>Crawl national portals, gazettes, and ministry sites; capture full provenance per document.</a:t>
            </a:r>
          </a:p>
        </p:txBody>
      </p:sp>
      <p:sp>
        <p:nvSpPr>
          <p:cNvPr id="13" name="TextBox 12"/>
          <p:cNvSpPr txBox="1"/>
          <p:nvPr/>
        </p:nvSpPr>
        <p:spPr>
          <a:xfrm>
            <a:off x="2706623"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14" name="Rectangle 13"/>
          <p:cNvSpPr/>
          <p:nvPr/>
        </p:nvSpPr>
        <p:spPr>
          <a:xfrm>
            <a:off x="2843783"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43783" y="2103120"/>
            <a:ext cx="2084831" cy="6400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43783"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2</a:t>
            </a:r>
          </a:p>
        </p:txBody>
      </p:sp>
      <p:sp>
        <p:nvSpPr>
          <p:cNvPr id="17" name="TextBox 16"/>
          <p:cNvSpPr txBox="1"/>
          <p:nvPr/>
        </p:nvSpPr>
        <p:spPr>
          <a:xfrm>
            <a:off x="3026663"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OCR &amp; Captioning</a:t>
            </a:r>
          </a:p>
          <a:p>
            <a:pPr algn="l">
              <a:spcBef>
                <a:spcPts val="0"/>
              </a:spcBef>
              <a:spcAft>
                <a:spcPts val="0"/>
              </a:spcAft>
            </a:pPr>
            <a:r>
              <a:rPr sz="1200" b="0" i="0">
                <a:solidFill>
                  <a:srgbClr val="334455"/>
                </a:solidFill>
                <a:latin typeface="Calibri"/>
              </a:rPr>
              <a:t>Convert any format to clean text at &lt;5% CER; SigLIP-style captions become the basis for tags.</a:t>
            </a:r>
          </a:p>
        </p:txBody>
      </p:sp>
      <p:sp>
        <p:nvSpPr>
          <p:cNvPr id="18" name="TextBox 17"/>
          <p:cNvSpPr txBox="1"/>
          <p:nvPr/>
        </p:nvSpPr>
        <p:spPr>
          <a:xfrm>
            <a:off x="4910326"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19" name="Rectangle 18"/>
          <p:cNvSpPr/>
          <p:nvPr/>
        </p:nvSpPr>
        <p:spPr>
          <a:xfrm>
            <a:off x="5047486"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47486" y="2103120"/>
            <a:ext cx="2084831" cy="6400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47486"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3</a:t>
            </a:r>
          </a:p>
        </p:txBody>
      </p:sp>
      <p:sp>
        <p:nvSpPr>
          <p:cNvPr id="22" name="TextBox 21"/>
          <p:cNvSpPr txBox="1"/>
          <p:nvPr/>
        </p:nvSpPr>
        <p:spPr>
          <a:xfrm>
            <a:off x="5230366"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Tagging &amp; Extraction</a:t>
            </a:r>
          </a:p>
          <a:p>
            <a:pPr algn="l">
              <a:spcBef>
                <a:spcPts val="0"/>
              </a:spcBef>
              <a:spcAft>
                <a:spcPts val="0"/>
              </a:spcAft>
            </a:pPr>
            <a:r>
              <a:rPr sz="1200" b="0" i="0">
                <a:solidFill>
                  <a:srgbClr val="334455"/>
                </a:solidFill>
                <a:latin typeface="Calibri"/>
              </a:rPr>
              <a:t>Multi-label tag each article; RAG extracts all 6 fields with citations and confidence scores.</a:t>
            </a:r>
          </a:p>
        </p:txBody>
      </p:sp>
      <p:sp>
        <p:nvSpPr>
          <p:cNvPr id="23" name="TextBox 22"/>
          <p:cNvSpPr txBox="1"/>
          <p:nvPr/>
        </p:nvSpPr>
        <p:spPr>
          <a:xfrm>
            <a:off x="7114029"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24" name="Rectangle 23"/>
          <p:cNvSpPr/>
          <p:nvPr/>
        </p:nvSpPr>
        <p:spPr>
          <a:xfrm>
            <a:off x="7251189"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51189" y="2103120"/>
            <a:ext cx="2084831" cy="64008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51189"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4</a:t>
            </a:r>
          </a:p>
        </p:txBody>
      </p:sp>
      <p:sp>
        <p:nvSpPr>
          <p:cNvPr id="27" name="TextBox 26"/>
          <p:cNvSpPr txBox="1"/>
          <p:nvPr/>
        </p:nvSpPr>
        <p:spPr>
          <a:xfrm>
            <a:off x="7434069"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Human Review</a:t>
            </a:r>
          </a:p>
          <a:p>
            <a:pPr algn="l">
              <a:spcBef>
                <a:spcPts val="0"/>
              </a:spcBef>
              <a:spcAft>
                <a:spcPts val="0"/>
              </a:spcAft>
            </a:pPr>
            <a:r>
              <a:rPr sz="1200" b="0" i="0">
                <a:solidFill>
                  <a:srgbClr val="334455"/>
                </a:solidFill>
                <a:latin typeface="Calibri"/>
              </a:rPr>
              <a:t>Non-technical UI: Accept, Reject, or Edit each mapping in seconds, linked to the source.</a:t>
            </a:r>
          </a:p>
        </p:txBody>
      </p:sp>
      <p:sp>
        <p:nvSpPr>
          <p:cNvPr id="28" name="TextBox 27"/>
          <p:cNvSpPr txBox="1"/>
          <p:nvPr/>
        </p:nvSpPr>
        <p:spPr>
          <a:xfrm>
            <a:off x="9317732"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29" name="Rectangle 28"/>
          <p:cNvSpPr/>
          <p:nvPr/>
        </p:nvSpPr>
        <p:spPr>
          <a:xfrm>
            <a:off x="9454892"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54892" y="2103120"/>
            <a:ext cx="2084831" cy="64008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54892"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5</a:t>
            </a:r>
          </a:p>
        </p:txBody>
      </p:sp>
      <p:sp>
        <p:nvSpPr>
          <p:cNvPr id="32" name="TextBox 31"/>
          <p:cNvSpPr txBox="1"/>
          <p:nvPr/>
        </p:nvSpPr>
        <p:spPr>
          <a:xfrm>
            <a:off x="9637772"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Concept Graph</a:t>
            </a:r>
          </a:p>
          <a:p>
            <a:pPr algn="l">
              <a:spcBef>
                <a:spcPts val="0"/>
              </a:spcBef>
              <a:spcAft>
                <a:spcPts val="0"/>
              </a:spcAft>
            </a:pPr>
            <a:r>
              <a:rPr sz="1200" b="0" i="0">
                <a:solidFill>
                  <a:srgbClr val="334455"/>
                </a:solidFill>
                <a:latin typeface="Calibri"/>
              </a:rPr>
              <a:t>Connect tagged provisions into a weighted, pruned, navigable graph — the core contribution.</a:t>
            </a:r>
          </a:p>
        </p:txBody>
      </p:sp>
      <p:sp>
        <p:nvSpPr>
          <p:cNvPr id="33" name="TextBox 32"/>
          <p:cNvSpPr txBox="1"/>
          <p:nvPr/>
        </p:nvSpPr>
        <p:spPr>
          <a:xfrm>
            <a:off x="640080" y="5532120"/>
            <a:ext cx="10881360" cy="457200"/>
          </a:xfrm>
          <a:prstGeom prst="rect">
            <a:avLst/>
          </a:prstGeom>
          <a:noFill/>
        </p:spPr>
        <p:txBody>
          <a:bodyPr wrap="square" anchor="t" lIns="0" rIns="0" tIns="0" bIns="0">
            <a:spAutoFit/>
          </a:bodyPr>
          <a:lstStyle/>
          <a:p>
            <a:pPr algn="ctr">
              <a:spcBef>
                <a:spcPts val="0"/>
              </a:spcBef>
              <a:spcAft>
                <a:spcPts val="0"/>
              </a:spcAft>
            </a:pPr>
            <a:r>
              <a:rPr sz="1400" b="0" i="1">
                <a:solidFill>
                  <a:srgbClr val="6B7B8C"/>
                </a:solidFill>
                <a:latin typeface="Calibri"/>
              </a:rPr>
              <a:t>discover  →  describe  (Stages 1–4)        +        connect  (Stage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flipH="1" flipV="1">
            <a:off x="7962284" y="3689604"/>
            <a:ext cx="1227436"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189720" y="2427732"/>
            <a:ext cx="1227435"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7962284" y="2848356"/>
            <a:ext cx="1227436"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7962284" y="3268980"/>
            <a:ext cx="1227436"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189720" y="3268980"/>
            <a:ext cx="0" cy="841248"/>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3268980"/>
            <a:ext cx="1227435"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9189720" y="2848356"/>
            <a:ext cx="1227435"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9189720" y="2427732"/>
            <a:ext cx="0" cy="841248"/>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CORE CONTRIBUTION</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Stage 5 — The Concept Graph</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6</a:t>
            </a:r>
          </a:p>
        </p:txBody>
      </p:sp>
      <p:sp>
        <p:nvSpPr>
          <p:cNvPr id="9" name="TextBox 8"/>
          <p:cNvSpPr txBox="1"/>
          <p:nvPr/>
        </p:nvSpPr>
        <p:spPr>
          <a:xfrm>
            <a:off x="640080" y="1783080"/>
            <a:ext cx="5852160" cy="4206240"/>
          </a:xfrm>
          <a:prstGeom prst="rect">
            <a:avLst/>
          </a:prstGeom>
          <a:noFill/>
        </p:spPr>
        <p:txBody>
          <a:bodyPr wrap="square" anchor="t" lIns="0" rIns="0" tIns="0" bIns="0">
            <a:spAutoFit/>
          </a:bodyPr>
          <a:lstStyle/>
          <a:p>
            <a:pPr algn="l">
              <a:spcAft>
                <a:spcPts val="1200"/>
              </a:spcAft>
            </a:pPr>
            <a:r>
              <a:rPr sz="1500" b="1">
                <a:solidFill>
                  <a:srgbClr val="1F6FB2"/>
                </a:solidFill>
                <a:latin typeface="Calibri"/>
              </a:rPr>
              <a:t>—  </a:t>
            </a:r>
            <a:r>
              <a:rPr sz="1500" b="0">
                <a:solidFill>
                  <a:srgbClr val="334455"/>
                </a:solidFill>
                <a:latin typeface="Calibri"/>
              </a:rPr>
              <a:t>Edges weight tag overlap (IDF-weighted) and embedding cosine similarity between provisions.</a:t>
            </a:r>
          </a:p>
          <a:p>
            <a:pPr algn="l">
              <a:spcAft>
                <a:spcPts val="1200"/>
              </a:spcAft>
            </a:pPr>
            <a:r>
              <a:rPr sz="1500" b="1">
                <a:solidFill>
                  <a:srgbClr val="1F6FB2"/>
                </a:solidFill>
                <a:latin typeface="Calibri"/>
              </a:rPr>
              <a:t>—  </a:t>
            </a:r>
            <a:r>
              <a:rPr sz="1500" b="0">
                <a:solidFill>
                  <a:srgbClr val="334455"/>
                </a:solidFill>
                <a:latin typeface="Calibri"/>
              </a:rPr>
              <a:t>Pseudo-deterministic threshold pruning: edges below a calibrated θ are removed; results reproduce given fixed seeds and θ.</a:t>
            </a:r>
          </a:p>
          <a:p>
            <a:pPr algn="l">
              <a:spcAft>
                <a:spcPts val="1200"/>
              </a:spcAft>
            </a:pPr>
            <a:r>
              <a:rPr sz="1500" b="1">
                <a:solidFill>
                  <a:srgbClr val="1F6FB2"/>
                </a:solidFill>
                <a:latin typeface="Calibri"/>
              </a:rPr>
              <a:t>—  </a:t>
            </a:r>
            <a:r>
              <a:rPr sz="1500" b="0">
                <a:solidFill>
                  <a:srgbClr val="334455"/>
                </a:solidFill>
                <a:latin typeface="Calibri"/>
              </a:rPr>
              <a:t>Community detection (NetworkX / Louvain — BSD) produces Obsidian-style topical groupings.</a:t>
            </a:r>
          </a:p>
          <a:p>
            <a:pPr algn="l">
              <a:spcAft>
                <a:spcPts val="1200"/>
              </a:spcAft>
            </a:pPr>
            <a:r>
              <a:rPr sz="1500" b="1">
                <a:solidFill>
                  <a:srgbClr val="2E8B6F"/>
                </a:solidFill>
                <a:latin typeface="Calibri"/>
              </a:rPr>
              <a:t>—  </a:t>
            </a:r>
            <a:r>
              <a:rPr sz="1500" b="0">
                <a:solidFill>
                  <a:srgbClr val="334455"/>
                </a:solidFill>
                <a:latin typeface="Calibri"/>
              </a:rPr>
              <a:t>Formal Concept Analysis builds a generality hierarchy; weighted PageRank ranks entry points and orders within levels.</a:t>
            </a:r>
          </a:p>
          <a:p>
            <a:pPr algn="l">
              <a:spcAft>
                <a:spcPts val="0"/>
              </a:spcAft>
            </a:pPr>
            <a:r>
              <a:rPr sz="1500" b="1">
                <a:solidFill>
                  <a:srgbClr val="2E8B6F"/>
                </a:solidFill>
                <a:latin typeface="Calibri"/>
              </a:rPr>
              <a:t>—  </a:t>
            </a:r>
            <a:r>
              <a:rPr sz="1500" b="1">
                <a:solidFill>
                  <a:srgbClr val="334455"/>
                </a:solidFill>
                <a:latin typeface="Calibri"/>
              </a:rPr>
              <a:t>Result: broad entry-point categories → ranked specific sub-topics — a navigable map of related provisions.</a:t>
            </a:r>
          </a:p>
        </p:txBody>
      </p:sp>
      <p:sp>
        <p:nvSpPr>
          <p:cNvPr id="10" name="Rectangle 9"/>
          <p:cNvSpPr/>
          <p:nvPr/>
        </p:nvSpPr>
        <p:spPr>
          <a:xfrm>
            <a:off x="6858000" y="1920240"/>
            <a:ext cx="4663440" cy="269748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787384" y="2025396"/>
            <a:ext cx="804672" cy="804672"/>
          </a:xfrm>
          <a:prstGeom prst="ellipse">
            <a:avLst/>
          </a:prstGeom>
          <a:solidFill>
            <a:srgbClr val="2E8B6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Transfer</a:t>
            </a:r>
          </a:p>
        </p:txBody>
      </p:sp>
      <p:sp>
        <p:nvSpPr>
          <p:cNvPr id="20" name="Oval 19"/>
          <p:cNvSpPr/>
          <p:nvPr/>
        </p:nvSpPr>
        <p:spPr>
          <a:xfrm>
            <a:off x="10014819" y="2446020"/>
            <a:ext cx="804672" cy="804672"/>
          </a:xfrm>
          <a:prstGeom prst="ellipse">
            <a:avLst/>
          </a:prstGeom>
          <a:solidFill>
            <a:srgbClr val="2E8B6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Consent</a:t>
            </a:r>
          </a:p>
        </p:txBody>
      </p:sp>
      <p:sp>
        <p:nvSpPr>
          <p:cNvPr id="21" name="Oval 20"/>
          <p:cNvSpPr/>
          <p:nvPr/>
        </p:nvSpPr>
        <p:spPr>
          <a:xfrm>
            <a:off x="10014819" y="3287268"/>
            <a:ext cx="804672" cy="804672"/>
          </a:xfrm>
          <a:prstGeom prst="ellipse">
            <a:avLst/>
          </a:prstGeom>
          <a:solidFill>
            <a:srgbClr val="1F6F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Localization</a:t>
            </a:r>
          </a:p>
        </p:txBody>
      </p:sp>
      <p:sp>
        <p:nvSpPr>
          <p:cNvPr id="22" name="Oval 21"/>
          <p:cNvSpPr/>
          <p:nvPr/>
        </p:nvSpPr>
        <p:spPr>
          <a:xfrm>
            <a:off x="8787384" y="3707892"/>
            <a:ext cx="804672" cy="804672"/>
          </a:xfrm>
          <a:prstGeom prst="ellipse">
            <a:avLst/>
          </a:prstGeom>
          <a:solidFill>
            <a:srgbClr val="1F6F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Breach</a:t>
            </a:r>
          </a:p>
        </p:txBody>
      </p:sp>
      <p:sp>
        <p:nvSpPr>
          <p:cNvPr id="23" name="Oval 22"/>
          <p:cNvSpPr/>
          <p:nvPr/>
        </p:nvSpPr>
        <p:spPr>
          <a:xfrm>
            <a:off x="7559948" y="3287268"/>
            <a:ext cx="804672" cy="804672"/>
          </a:xfrm>
          <a:prstGeom prst="ellipse">
            <a:avLst/>
          </a:prstGeom>
          <a:solidFill>
            <a:srgbClr val="2E8B6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DPA</a:t>
            </a:r>
          </a:p>
        </p:txBody>
      </p:sp>
      <p:sp>
        <p:nvSpPr>
          <p:cNvPr id="24" name="Oval 23"/>
          <p:cNvSpPr/>
          <p:nvPr/>
        </p:nvSpPr>
        <p:spPr>
          <a:xfrm>
            <a:off x="7559948" y="2446020"/>
            <a:ext cx="804672" cy="804672"/>
          </a:xfrm>
          <a:prstGeom prst="ellipse">
            <a:avLst/>
          </a:prstGeom>
          <a:solidFill>
            <a:srgbClr val="1F6F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Adequacy</a:t>
            </a:r>
          </a:p>
        </p:txBody>
      </p:sp>
      <p:sp>
        <p:nvSpPr>
          <p:cNvPr id="25" name="Oval 24"/>
          <p:cNvSpPr/>
          <p:nvPr/>
        </p:nvSpPr>
        <p:spPr>
          <a:xfrm>
            <a:off x="8659368" y="2738628"/>
            <a:ext cx="1060704" cy="1060704"/>
          </a:xfrm>
          <a:prstGeom prst="ellipse">
            <a:avLst/>
          </a:prstGeom>
          <a:solidFill>
            <a:srgbClr val="0E2A4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1100" b="1" i="0">
                <a:solidFill>
                  <a:srgbClr val="FFFFFF"/>
                </a:solidFill>
                <a:latin typeface="Calibri"/>
              </a:rPr>
              <a:t>Data</a:t>
            </a:r>
            <a:br/>
            <a:r>
              <a:t>Flows</a:t>
            </a:r>
          </a:p>
        </p:txBody>
      </p:sp>
      <p:sp>
        <p:nvSpPr>
          <p:cNvPr id="26" name="Rounded Rectangle 25"/>
          <p:cNvSpPr/>
          <p:nvPr/>
        </p:nvSpPr>
        <p:spPr>
          <a:xfrm>
            <a:off x="6858000" y="4800600"/>
            <a:ext cx="4663440" cy="1554480"/>
          </a:xfrm>
          <a:prstGeom prst="round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86600" y="4910328"/>
            <a:ext cx="4206240" cy="1335024"/>
          </a:xfrm>
          <a:prstGeom prst="rect">
            <a:avLst/>
          </a:prstGeom>
          <a:noFill/>
        </p:spPr>
        <p:txBody>
          <a:bodyPr wrap="square" anchor="t" lIns="0" rIns="0" tIns="0" bIns="0">
            <a:spAutoFit/>
          </a:bodyPr>
          <a:lstStyle/>
          <a:p>
            <a:pPr algn="l">
              <a:spcBef>
                <a:spcPts val="0"/>
              </a:spcBef>
              <a:spcAft>
                <a:spcPts val="800"/>
              </a:spcAft>
            </a:pPr>
            <a:r>
              <a:rPr sz="1100" b="1" i="0">
                <a:solidFill>
                  <a:srgbClr val="9FC4E6"/>
                </a:solidFill>
                <a:latin typeface="Calibri"/>
              </a:rPr>
              <a:t>FORMAL MODEL</a:t>
            </a:r>
          </a:p>
          <a:p>
            <a:pPr>
              <a:spcAft>
                <a:spcPts val="300"/>
              </a:spcAft>
            </a:pPr>
            <a:r>
              <a:rPr sz="1100" b="1">
                <a:solidFill>
                  <a:srgbClr val="D7E4F1"/>
                </a:solidFill>
                <a:latin typeface="Calibri"/>
              </a:rPr>
              <a:t>Edge weight:  </a:t>
            </a:r>
            <a:r>
              <a:rPr sz="1250" b="0">
                <a:solidFill>
                  <a:srgbClr val="FFFFFF"/>
                </a:solidFill>
                <a:latin typeface="Cambria Math"/>
              </a:rPr>
              <a:t>w(i, j) = α · tag(i, j) + β · cos(i, j)</a:t>
            </a:r>
          </a:p>
          <a:p>
            <a:pPr>
              <a:spcAft>
                <a:spcPts val="300"/>
              </a:spcAft>
            </a:pPr>
            <a:r>
              <a:rPr sz="1100" b="1">
                <a:solidFill>
                  <a:srgbClr val="D7E4F1"/>
                </a:solidFill>
                <a:latin typeface="Calibri"/>
              </a:rPr>
              <a:t>Pruning:  </a:t>
            </a:r>
            <a:r>
              <a:rPr sz="1250" b="0">
                <a:solidFill>
                  <a:srgbClr val="FFFFFF"/>
                </a:solidFill>
                <a:latin typeface="Cambria Math"/>
              </a:rPr>
              <a:t>keep (i, j)  ⟺  w(i, j) ≥ θ</a:t>
            </a:r>
          </a:p>
          <a:p>
            <a:pPr>
              <a:spcAft>
                <a:spcPts val="300"/>
              </a:spcAft>
            </a:pPr>
            <a:r>
              <a:rPr sz="1100" b="1">
                <a:solidFill>
                  <a:srgbClr val="D7E4F1"/>
                </a:solidFill>
                <a:latin typeface="Calibri"/>
              </a:rPr>
              <a:t>Ranking:  </a:t>
            </a:r>
            <a:r>
              <a:rPr sz="1250" b="0">
                <a:solidFill>
                  <a:srgbClr val="FFFFFF"/>
                </a:solidFill>
                <a:latin typeface="Cambria Math"/>
              </a:rPr>
              <a:t>PR = d · Mᵀ·PR + (1 − d) / N</a:t>
            </a:r>
          </a:p>
          <a:p>
            <a:pPr algn="l">
              <a:spcBef>
                <a:spcPts val="0"/>
              </a:spcBef>
              <a:spcAft>
                <a:spcPts val="0"/>
              </a:spcAft>
            </a:pPr>
            <a:r>
              <a:rPr sz="900" b="0" i="1">
                <a:solidFill>
                  <a:srgbClr val="9FC4E6"/>
                </a:solidFill>
                <a:latin typeface="Calibri"/>
              </a:rPr>
              <a:t>tag = IDF-weighted tag overlap · cos = embedding cosine similarity · θ = pruning threshold · M = adjacency matrix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IMPLEMENTATION</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Technology Stack — Every Layer Behind a Port</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7</a:t>
            </a:r>
          </a:p>
        </p:txBody>
      </p:sp>
      <p:sp>
        <p:nvSpPr>
          <p:cNvPr id="9" name="Rectangle 8"/>
          <p:cNvSpPr/>
          <p:nvPr/>
        </p:nvSpPr>
        <p:spPr>
          <a:xfrm>
            <a:off x="640080" y="1783080"/>
            <a:ext cx="10908792" cy="457200"/>
          </a:xfrm>
          <a:prstGeom prst="rect">
            <a:avLst/>
          </a:prstGeom>
          <a:solidFill>
            <a:srgbClr val="0E2A47"/>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783080"/>
            <a:ext cx="3108960" cy="457200"/>
          </a:xfrm>
          <a:prstGeom prst="rect">
            <a:avLst/>
          </a:prstGeom>
          <a:noFill/>
        </p:spPr>
        <p:txBody>
          <a:bodyPr wrap="square" anchor="ctr" lIns="0" rIns="0" tIns="0" bIns="0">
            <a:spAutoFit/>
          </a:bodyPr>
          <a:lstStyle/>
          <a:p>
            <a:pPr algn="l">
              <a:spcBef>
                <a:spcPts val="0"/>
              </a:spcBef>
              <a:spcAft>
                <a:spcPts val="0"/>
              </a:spcAft>
            </a:pPr>
            <a:r>
              <a:rPr sz="1200" b="1" i="0">
                <a:solidFill>
                  <a:srgbClr val="FFFFFF"/>
                </a:solidFill>
                <a:latin typeface="Calibri"/>
              </a:rPr>
              <a:t>Layer (port)</a:t>
            </a:r>
          </a:p>
        </p:txBody>
      </p:sp>
      <p:sp>
        <p:nvSpPr>
          <p:cNvPr id="11" name="TextBox 10"/>
          <p:cNvSpPr txBox="1"/>
          <p:nvPr/>
        </p:nvSpPr>
        <p:spPr>
          <a:xfrm>
            <a:off x="4187952" y="1783080"/>
            <a:ext cx="4023360" cy="457200"/>
          </a:xfrm>
          <a:prstGeom prst="rect">
            <a:avLst/>
          </a:prstGeom>
          <a:noFill/>
        </p:spPr>
        <p:txBody>
          <a:bodyPr wrap="square" anchor="ctr" lIns="0" rIns="0" tIns="0" bIns="0">
            <a:spAutoFit/>
          </a:bodyPr>
          <a:lstStyle/>
          <a:p>
            <a:pPr algn="l">
              <a:spcBef>
                <a:spcPts val="0"/>
              </a:spcBef>
              <a:spcAft>
                <a:spcPts val="0"/>
              </a:spcAft>
            </a:pPr>
            <a:r>
              <a:rPr sz="1200" b="1" i="0">
                <a:solidFill>
                  <a:srgbClr val="FFFFFF"/>
                </a:solidFill>
                <a:latin typeface="Calibri"/>
              </a:rPr>
              <a:t>Suggested adapter (dev)</a:t>
            </a:r>
          </a:p>
        </p:txBody>
      </p:sp>
      <p:sp>
        <p:nvSpPr>
          <p:cNvPr id="12" name="TextBox 11"/>
          <p:cNvSpPr txBox="1"/>
          <p:nvPr/>
        </p:nvSpPr>
        <p:spPr>
          <a:xfrm>
            <a:off x="8485632" y="1783080"/>
            <a:ext cx="2953512" cy="457200"/>
          </a:xfrm>
          <a:prstGeom prst="rect">
            <a:avLst/>
          </a:prstGeom>
          <a:noFill/>
        </p:spPr>
        <p:txBody>
          <a:bodyPr wrap="square" anchor="ctr" lIns="0" rIns="0" tIns="0" bIns="0">
            <a:spAutoFit/>
          </a:bodyPr>
          <a:lstStyle/>
          <a:p>
            <a:pPr algn="l">
              <a:spcBef>
                <a:spcPts val="0"/>
              </a:spcBef>
              <a:spcAft>
                <a:spcPts val="0"/>
              </a:spcAft>
            </a:pPr>
            <a:r>
              <a:rPr sz="1200" b="1" i="0">
                <a:solidFill>
                  <a:srgbClr val="FFFFFF"/>
                </a:solidFill>
                <a:latin typeface="Calibri"/>
              </a:rPr>
              <a:t>Open-weight target</a:t>
            </a:r>
          </a:p>
        </p:txBody>
      </p:sp>
      <p:sp>
        <p:nvSpPr>
          <p:cNvPr id="13" name="Rectangle 12"/>
          <p:cNvSpPr/>
          <p:nvPr/>
        </p:nvSpPr>
        <p:spPr>
          <a:xfrm>
            <a:off x="640080" y="22402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22402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LLM  ·  LLMProvider</a:t>
            </a:r>
          </a:p>
        </p:txBody>
      </p:sp>
      <p:sp>
        <p:nvSpPr>
          <p:cNvPr id="15" name="TextBox 14"/>
          <p:cNvSpPr txBox="1"/>
          <p:nvPr/>
        </p:nvSpPr>
        <p:spPr>
          <a:xfrm>
            <a:off x="4187952" y="22402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Claude / GPT</a:t>
            </a:r>
          </a:p>
        </p:txBody>
      </p:sp>
      <p:sp>
        <p:nvSpPr>
          <p:cNvPr id="16" name="TextBox 15"/>
          <p:cNvSpPr txBox="1"/>
          <p:nvPr/>
        </p:nvSpPr>
        <p:spPr>
          <a:xfrm>
            <a:off x="8485632" y="22402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Llama 3.1 8B/70B via Ollama</a:t>
            </a:r>
          </a:p>
        </p:txBody>
      </p:sp>
      <p:sp>
        <p:nvSpPr>
          <p:cNvPr id="17" name="Rectangle 16"/>
          <p:cNvSpPr/>
          <p:nvPr/>
        </p:nvSpPr>
        <p:spPr>
          <a:xfrm>
            <a:off x="640080" y="26974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26974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Captioning  ·  Captioner</a:t>
            </a:r>
          </a:p>
        </p:txBody>
      </p:sp>
      <p:sp>
        <p:nvSpPr>
          <p:cNvPr id="19" name="TextBox 18"/>
          <p:cNvSpPr txBox="1"/>
          <p:nvPr/>
        </p:nvSpPr>
        <p:spPr>
          <a:xfrm>
            <a:off x="4187952" y="26974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Qwen2-VL / ColQwen2 (Apache)</a:t>
            </a:r>
          </a:p>
        </p:txBody>
      </p:sp>
      <p:sp>
        <p:nvSpPr>
          <p:cNvPr id="20" name="TextBox 19"/>
          <p:cNvSpPr txBox="1"/>
          <p:nvPr/>
        </p:nvSpPr>
        <p:spPr>
          <a:xfrm>
            <a:off x="8485632" y="26974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 OCR-text fallback</a:t>
            </a:r>
          </a:p>
        </p:txBody>
      </p:sp>
      <p:sp>
        <p:nvSpPr>
          <p:cNvPr id="21" name="Rectangle 20"/>
          <p:cNvSpPr/>
          <p:nvPr/>
        </p:nvSpPr>
        <p:spPr>
          <a:xfrm>
            <a:off x="640080" y="31546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31546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Embeddings  ·  Tagger</a:t>
            </a:r>
          </a:p>
        </p:txBody>
      </p:sp>
      <p:sp>
        <p:nvSpPr>
          <p:cNvPr id="23" name="TextBox 22"/>
          <p:cNvSpPr txBox="1"/>
          <p:nvPr/>
        </p:nvSpPr>
        <p:spPr>
          <a:xfrm>
            <a:off x="4187952" y="31546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BGE-M3 (multilingual, MIT)</a:t>
            </a:r>
          </a:p>
        </p:txBody>
      </p:sp>
      <p:sp>
        <p:nvSpPr>
          <p:cNvPr id="24" name="TextBox 23"/>
          <p:cNvSpPr txBox="1"/>
          <p:nvPr/>
        </p:nvSpPr>
        <p:spPr>
          <a:xfrm>
            <a:off x="8485632" y="31546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25" name="Rectangle 24"/>
          <p:cNvSpPr/>
          <p:nvPr/>
        </p:nvSpPr>
        <p:spPr>
          <a:xfrm>
            <a:off x="640080" y="36118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36118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OCR  ·  OCREngine</a:t>
            </a:r>
          </a:p>
        </p:txBody>
      </p:sp>
      <p:sp>
        <p:nvSpPr>
          <p:cNvPr id="27" name="TextBox 26"/>
          <p:cNvSpPr txBox="1"/>
          <p:nvPr/>
        </p:nvSpPr>
        <p:spPr>
          <a:xfrm>
            <a:off x="4187952" y="36118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Tesseract 5 + OpenCV / PaddleOCR</a:t>
            </a:r>
          </a:p>
        </p:txBody>
      </p:sp>
      <p:sp>
        <p:nvSpPr>
          <p:cNvPr id="28" name="TextBox 27"/>
          <p:cNvSpPr txBox="1"/>
          <p:nvPr/>
        </p:nvSpPr>
        <p:spPr>
          <a:xfrm>
            <a:off x="8485632" y="36118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29" name="Rectangle 28"/>
          <p:cNvSpPr/>
          <p:nvPr/>
        </p:nvSpPr>
        <p:spPr>
          <a:xfrm>
            <a:off x="640080" y="40690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40690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Vector store</a:t>
            </a:r>
          </a:p>
        </p:txBody>
      </p:sp>
      <p:sp>
        <p:nvSpPr>
          <p:cNvPr id="31" name="TextBox 30"/>
          <p:cNvSpPr txBox="1"/>
          <p:nvPr/>
        </p:nvSpPr>
        <p:spPr>
          <a:xfrm>
            <a:off x="4187952" y="40690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pgvector / Chroma (self-hostable)</a:t>
            </a:r>
          </a:p>
        </p:txBody>
      </p:sp>
      <p:sp>
        <p:nvSpPr>
          <p:cNvPr id="32" name="TextBox 31"/>
          <p:cNvSpPr txBox="1"/>
          <p:nvPr/>
        </p:nvSpPr>
        <p:spPr>
          <a:xfrm>
            <a:off x="8485632" y="40690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33" name="Rectangle 32"/>
          <p:cNvSpPr/>
          <p:nvPr/>
        </p:nvSpPr>
        <p:spPr>
          <a:xfrm>
            <a:off x="640080" y="45262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45262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Graph + ranking</a:t>
            </a:r>
          </a:p>
        </p:txBody>
      </p:sp>
      <p:sp>
        <p:nvSpPr>
          <p:cNvPr id="35" name="TextBox 34"/>
          <p:cNvSpPr txBox="1"/>
          <p:nvPr/>
        </p:nvSpPr>
        <p:spPr>
          <a:xfrm>
            <a:off x="4187952" y="45262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NetworkX (BSD) + FCA concepts (MIT)</a:t>
            </a:r>
          </a:p>
        </p:txBody>
      </p:sp>
      <p:sp>
        <p:nvSpPr>
          <p:cNvPr id="36" name="TextBox 35"/>
          <p:cNvSpPr txBox="1"/>
          <p:nvPr/>
        </p:nvSpPr>
        <p:spPr>
          <a:xfrm>
            <a:off x="8485632" y="45262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37" name="Rectangle 36"/>
          <p:cNvSpPr/>
          <p:nvPr/>
        </p:nvSpPr>
        <p:spPr>
          <a:xfrm>
            <a:off x="640080" y="49834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49834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Backend / Frontend</a:t>
            </a:r>
          </a:p>
        </p:txBody>
      </p:sp>
      <p:sp>
        <p:nvSpPr>
          <p:cNvPr id="39" name="TextBox 38"/>
          <p:cNvSpPr txBox="1"/>
          <p:nvPr/>
        </p:nvSpPr>
        <p:spPr>
          <a:xfrm>
            <a:off x="4187952" y="49834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FastAPI  ·  React / Next.js</a:t>
            </a:r>
          </a:p>
        </p:txBody>
      </p:sp>
      <p:sp>
        <p:nvSpPr>
          <p:cNvPr id="40" name="TextBox 39"/>
          <p:cNvSpPr txBox="1"/>
          <p:nvPr/>
        </p:nvSpPr>
        <p:spPr>
          <a:xfrm>
            <a:off x="8485632" y="49834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41" name="Rectangle 40"/>
          <p:cNvSpPr/>
          <p:nvPr/>
        </p:nvSpPr>
        <p:spPr>
          <a:xfrm>
            <a:off x="640080" y="54406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4406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Deployment</a:t>
            </a:r>
          </a:p>
        </p:txBody>
      </p:sp>
      <p:sp>
        <p:nvSpPr>
          <p:cNvPr id="43" name="TextBox 42"/>
          <p:cNvSpPr txBox="1"/>
          <p:nvPr/>
        </p:nvSpPr>
        <p:spPr>
          <a:xfrm>
            <a:off x="4187952" y="54406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Docker + docker-compose</a:t>
            </a:r>
          </a:p>
        </p:txBody>
      </p:sp>
      <p:sp>
        <p:nvSpPr>
          <p:cNvPr id="44" name="TextBox 43"/>
          <p:cNvSpPr txBox="1"/>
          <p:nvPr/>
        </p:nvSpPr>
        <p:spPr>
          <a:xfrm>
            <a:off x="8485632" y="54406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45" name="TextBox 44"/>
          <p:cNvSpPr txBox="1"/>
          <p:nvPr/>
        </p:nvSpPr>
        <p:spPr>
          <a:xfrm>
            <a:off x="640080" y="6035040"/>
            <a:ext cx="10881360" cy="457200"/>
          </a:xfrm>
          <a:prstGeom prst="rect">
            <a:avLst/>
          </a:prstGeom>
          <a:noFill/>
        </p:spPr>
        <p:txBody>
          <a:bodyPr wrap="square" anchor="t" lIns="0" rIns="0" tIns="0" bIns="0">
            <a:spAutoFit/>
          </a:bodyPr>
          <a:lstStyle/>
          <a:p>
            <a:pPr algn="l">
              <a:spcBef>
                <a:spcPts val="0"/>
              </a:spcBef>
              <a:spcAft>
                <a:spcPts val="0"/>
              </a:spcAft>
            </a:pPr>
            <a:r>
              <a:rPr sz="1200" b="0" i="1">
                <a:solidFill>
                  <a:srgbClr val="6B7B8C"/>
                </a:solidFill>
                <a:latin typeface="Calibri"/>
              </a:rPr>
              <a:t>All components are Apache-2.0-compatible. Named models are reference suggestions, not commitments.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EVIDENCE &amp; VIABILITY</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Coverage, Cost, and Sustainability</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8</a:t>
            </a:r>
          </a:p>
        </p:txBody>
      </p:sp>
      <p:sp>
        <p:nvSpPr>
          <p:cNvPr id="9" name="Rectangle 8"/>
          <p:cNvSpPr/>
          <p:nvPr/>
        </p:nvSpPr>
        <p:spPr>
          <a:xfrm>
            <a:off x="640080" y="1828800"/>
            <a:ext cx="3529584" cy="3977639"/>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1828800"/>
            <a:ext cx="3529584" cy="56692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83664"/>
            <a:ext cx="3529584" cy="457200"/>
          </a:xfrm>
          <a:prstGeom prst="rect">
            <a:avLst/>
          </a:prstGeom>
          <a:noFill/>
        </p:spPr>
        <p:txBody>
          <a:bodyPr wrap="square" anchor="ctr" lIns="0" rIns="0" tIns="0" bIns="0">
            <a:spAutoFit/>
          </a:bodyPr>
          <a:lstStyle/>
          <a:p>
            <a:pPr algn="ctr">
              <a:spcBef>
                <a:spcPts val="0"/>
              </a:spcBef>
              <a:spcAft>
                <a:spcPts val="0"/>
              </a:spcAft>
            </a:pPr>
            <a:r>
              <a:rPr sz="1500" b="1" i="0">
                <a:solidFill>
                  <a:srgbClr val="FFFFFF"/>
                </a:solidFill>
                <a:latin typeface="Calibri"/>
              </a:rPr>
              <a:t>COVERAGE</a:t>
            </a:r>
          </a:p>
        </p:txBody>
      </p:sp>
      <p:sp>
        <p:nvSpPr>
          <p:cNvPr id="12" name="TextBox 11"/>
          <p:cNvSpPr txBox="1"/>
          <p:nvPr/>
        </p:nvSpPr>
        <p:spPr>
          <a:xfrm>
            <a:off x="896112" y="2606040"/>
            <a:ext cx="3072384" cy="3017520"/>
          </a:xfrm>
          <a:prstGeom prst="rect">
            <a:avLst/>
          </a:prstGeom>
          <a:noFill/>
        </p:spPr>
        <p:txBody>
          <a:bodyPr wrap="square" anchor="t" lIns="0" rIns="0" tIns="0" bIns="0">
            <a:spAutoFit/>
          </a:bodyPr>
          <a:lstStyle/>
          <a:p>
            <a:pPr algn="l">
              <a:spcAft>
                <a:spcPts val="1200"/>
              </a:spcAft>
            </a:pPr>
            <a:r>
              <a:rPr sz="1300" b="1">
                <a:solidFill>
                  <a:srgbClr val="1F6FB2"/>
                </a:solidFill>
                <a:latin typeface="Calibri"/>
              </a:rPr>
              <a:t>—  </a:t>
            </a:r>
            <a:r>
              <a:rPr sz="1300" b="0">
                <a:solidFill>
                  <a:srgbClr val="334455"/>
                </a:solidFill>
                <a:latin typeface="Calibri"/>
              </a:rPr>
              <a:t>Round 1: evaluated on 5–10 documents from 3 provided countries.</a:t>
            </a:r>
          </a:p>
          <a:p>
            <a:pPr algn="l">
              <a:spcAft>
                <a:spcPts val="1200"/>
              </a:spcAft>
            </a:pPr>
            <a:r>
              <a:rPr sz="1300" b="1">
                <a:solidFill>
                  <a:srgbClr val="1F6FB2"/>
                </a:solidFill>
                <a:latin typeface="Calibri"/>
              </a:rPr>
              <a:t>—  </a:t>
            </a:r>
            <a:r>
              <a:rPr sz="1300" b="0">
                <a:solidFill>
                  <a:srgbClr val="334455"/>
                </a:solidFill>
                <a:latin typeface="Calibri"/>
              </a:rPr>
              <a:t>At least one non-English jurisdiction handled via the translation pipeline.</a:t>
            </a:r>
          </a:p>
          <a:p>
            <a:pPr algn="l">
              <a:spcAft>
                <a:spcPts val="1200"/>
              </a:spcAft>
            </a:pPr>
            <a:r>
              <a:rPr sz="1300" b="1">
                <a:solidFill>
                  <a:srgbClr val="1F6FB2"/>
                </a:solidFill>
                <a:latin typeface="Calibri"/>
              </a:rPr>
              <a:t>—  </a:t>
            </a:r>
            <a:r>
              <a:rPr sz="1300" b="0">
                <a:solidFill>
                  <a:srgbClr val="334455"/>
                </a:solidFill>
                <a:latin typeface="Calibri"/>
              </a:rPr>
              <a:t>Finale-ready for 10 assigned countries — no retraining required.</a:t>
            </a:r>
          </a:p>
        </p:txBody>
      </p:sp>
      <p:sp>
        <p:nvSpPr>
          <p:cNvPr id="13" name="Rectangle 12"/>
          <p:cNvSpPr/>
          <p:nvPr/>
        </p:nvSpPr>
        <p:spPr>
          <a:xfrm>
            <a:off x="4334256" y="1828800"/>
            <a:ext cx="3529584" cy="3977639"/>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34256" y="1828800"/>
            <a:ext cx="3529584" cy="566928"/>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34256" y="1883664"/>
            <a:ext cx="3529584" cy="457200"/>
          </a:xfrm>
          <a:prstGeom prst="rect">
            <a:avLst/>
          </a:prstGeom>
          <a:noFill/>
        </p:spPr>
        <p:txBody>
          <a:bodyPr wrap="square" anchor="ctr" lIns="0" rIns="0" tIns="0" bIns="0">
            <a:spAutoFit/>
          </a:bodyPr>
          <a:lstStyle/>
          <a:p>
            <a:pPr algn="ctr">
              <a:spcBef>
                <a:spcPts val="0"/>
              </a:spcBef>
              <a:spcAft>
                <a:spcPts val="0"/>
              </a:spcAft>
            </a:pPr>
            <a:r>
              <a:rPr sz="1500" b="1" i="0">
                <a:solidFill>
                  <a:srgbClr val="FFFFFF"/>
                </a:solidFill>
                <a:latin typeface="Calibri"/>
              </a:rPr>
              <a:t>COST</a:t>
            </a:r>
          </a:p>
        </p:txBody>
      </p:sp>
      <p:sp>
        <p:nvSpPr>
          <p:cNvPr id="16" name="TextBox 15"/>
          <p:cNvSpPr txBox="1"/>
          <p:nvPr/>
        </p:nvSpPr>
        <p:spPr>
          <a:xfrm>
            <a:off x="4590288" y="2606040"/>
            <a:ext cx="3072384" cy="3017520"/>
          </a:xfrm>
          <a:prstGeom prst="rect">
            <a:avLst/>
          </a:prstGeom>
          <a:noFill/>
        </p:spPr>
        <p:txBody>
          <a:bodyPr wrap="square" anchor="t" lIns="0" rIns="0" tIns="0" bIns="0">
            <a:spAutoFit/>
          </a:bodyPr>
          <a:lstStyle/>
          <a:p>
            <a:pPr algn="l">
              <a:spcAft>
                <a:spcPts val="1200"/>
              </a:spcAft>
            </a:pPr>
            <a:r>
              <a:rPr sz="1300" b="1">
                <a:solidFill>
                  <a:srgbClr val="2E8B6F"/>
                </a:solidFill>
                <a:latin typeface="Calibri"/>
              </a:rPr>
              <a:t>—  </a:t>
            </a:r>
            <a:r>
              <a:rPr sz="1300" b="0">
                <a:solidFill>
                  <a:srgbClr val="334455"/>
                </a:solidFill>
                <a:latin typeface="Calibri"/>
              </a:rPr>
              <a:t>Open-weight (local Llama 3.1 8B): ≈ USD 0.00 in API fees per 50-page document.</a:t>
            </a:r>
          </a:p>
          <a:p>
            <a:pPr algn="l">
              <a:spcAft>
                <a:spcPts val="1200"/>
              </a:spcAft>
            </a:pPr>
            <a:r>
              <a:rPr sz="1300" b="1">
                <a:solidFill>
                  <a:srgbClr val="2E8B6F"/>
                </a:solidFill>
                <a:latin typeface="Calibri"/>
              </a:rPr>
              <a:t>—  </a:t>
            </a:r>
            <a:r>
              <a:rPr sz="1300" b="0">
                <a:solidFill>
                  <a:srgbClr val="334455"/>
                </a:solidFill>
                <a:latin typeface="Calibri"/>
              </a:rPr>
              <a:t>Cloud GPU compute: ≈ USD 0.05–0.10 per document at batch rates.</a:t>
            </a:r>
          </a:p>
          <a:p>
            <a:pPr algn="l">
              <a:spcAft>
                <a:spcPts val="1200"/>
              </a:spcAft>
            </a:pPr>
            <a:r>
              <a:rPr sz="1300" b="1">
                <a:solidFill>
                  <a:srgbClr val="2E8B6F"/>
                </a:solidFill>
                <a:latin typeface="Calibri"/>
              </a:rPr>
              <a:t>—  </a:t>
            </a:r>
            <a:r>
              <a:rPr sz="1300" b="0">
                <a:solidFill>
                  <a:srgbClr val="334455"/>
                </a:solidFill>
                <a:latin typeface="Calibri"/>
              </a:rPr>
              <a:t>API configuration: ≈ USD 0.10–0.25 per document.</a:t>
            </a:r>
          </a:p>
        </p:txBody>
      </p:sp>
      <p:sp>
        <p:nvSpPr>
          <p:cNvPr id="17" name="Rectangle 16"/>
          <p:cNvSpPr/>
          <p:nvPr/>
        </p:nvSpPr>
        <p:spPr>
          <a:xfrm>
            <a:off x="8028432" y="1828800"/>
            <a:ext cx="3529584" cy="3977639"/>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2" y="1828800"/>
            <a:ext cx="3529584" cy="566928"/>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28432" y="1883664"/>
            <a:ext cx="3529584" cy="457200"/>
          </a:xfrm>
          <a:prstGeom prst="rect">
            <a:avLst/>
          </a:prstGeom>
          <a:noFill/>
        </p:spPr>
        <p:txBody>
          <a:bodyPr wrap="square" anchor="ctr" lIns="0" rIns="0" tIns="0" bIns="0">
            <a:spAutoFit/>
          </a:bodyPr>
          <a:lstStyle/>
          <a:p>
            <a:pPr algn="ctr">
              <a:spcBef>
                <a:spcPts val="0"/>
              </a:spcBef>
              <a:spcAft>
                <a:spcPts val="0"/>
              </a:spcAft>
            </a:pPr>
            <a:r>
              <a:rPr sz="1500" b="1" i="0">
                <a:solidFill>
                  <a:srgbClr val="FFFFFF"/>
                </a:solidFill>
                <a:latin typeface="Calibri"/>
              </a:rPr>
              <a:t>SUSTAINABILITY</a:t>
            </a:r>
          </a:p>
        </p:txBody>
      </p:sp>
      <p:sp>
        <p:nvSpPr>
          <p:cNvPr id="20" name="TextBox 19"/>
          <p:cNvSpPr txBox="1"/>
          <p:nvPr/>
        </p:nvSpPr>
        <p:spPr>
          <a:xfrm>
            <a:off x="8284464" y="2606040"/>
            <a:ext cx="3072384" cy="3017520"/>
          </a:xfrm>
          <a:prstGeom prst="rect">
            <a:avLst/>
          </a:prstGeom>
          <a:noFill/>
        </p:spPr>
        <p:txBody>
          <a:bodyPr wrap="square" anchor="t" lIns="0" rIns="0" tIns="0" bIns="0">
            <a:spAutoFit/>
          </a:bodyPr>
          <a:lstStyle/>
          <a:p>
            <a:pPr algn="l">
              <a:spcAft>
                <a:spcPts val="1200"/>
              </a:spcAft>
            </a:pPr>
            <a:r>
              <a:rPr sz="1300" b="1">
                <a:solidFill>
                  <a:srgbClr val="0E2A47"/>
                </a:solidFill>
                <a:latin typeface="Calibri"/>
              </a:rPr>
              <a:t>—  </a:t>
            </a:r>
            <a:r>
              <a:rPr sz="1300" b="0">
                <a:solidFill>
                  <a:srgbClr val="334455"/>
                </a:solidFill>
                <a:latin typeface="Calibri"/>
              </a:rPr>
              <a:t>Fully self-hostable via Docker on commodity hardware.</a:t>
            </a:r>
          </a:p>
          <a:p>
            <a:pPr algn="l">
              <a:spcAft>
                <a:spcPts val="1200"/>
              </a:spcAft>
            </a:pPr>
            <a:r>
              <a:rPr sz="1300" b="1">
                <a:solidFill>
                  <a:srgbClr val="0E2A47"/>
                </a:solidFill>
                <a:latin typeface="Calibri"/>
              </a:rPr>
              <a:t>—  </a:t>
            </a:r>
            <a:r>
              <a:rPr sz="1300" b="0">
                <a:solidFill>
                  <a:srgbClr val="334455"/>
                </a:solidFill>
                <a:latin typeface="Calibri"/>
              </a:rPr>
              <a:t>No proprietary API dependency in production.</a:t>
            </a:r>
          </a:p>
          <a:p>
            <a:pPr algn="l">
              <a:spcAft>
                <a:spcPts val="1200"/>
              </a:spcAft>
            </a:pPr>
            <a:r>
              <a:rPr sz="1300" b="1">
                <a:solidFill>
                  <a:srgbClr val="0E2A47"/>
                </a:solidFill>
                <a:latin typeface="Calibri"/>
              </a:rPr>
              <a:t>—  </a:t>
            </a:r>
            <a:r>
              <a:rPr sz="1300" b="0">
                <a:solidFill>
                  <a:srgbClr val="334455"/>
                </a:solidFill>
                <a:latin typeface="Calibri"/>
              </a:rPr>
              <a:t>Modular: OCR, LLM, and vector DB upgrade independently.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THE PLAN</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Key Milestones</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9</a:t>
            </a:r>
          </a:p>
        </p:txBody>
      </p:sp>
      <p:sp>
        <p:nvSpPr>
          <p:cNvPr id="9" name="Rectangle 8"/>
          <p:cNvSpPr/>
          <p:nvPr/>
        </p:nvSpPr>
        <p:spPr>
          <a:xfrm>
            <a:off x="2468880" y="1874519"/>
            <a:ext cx="31750" cy="3712464"/>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395728" y="1856231"/>
            <a:ext cx="201168" cy="201168"/>
          </a:xfrm>
          <a:prstGeom prst="ellipse">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19655"/>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25 May 2026</a:t>
            </a:r>
          </a:p>
        </p:txBody>
      </p:sp>
      <p:sp>
        <p:nvSpPr>
          <p:cNvPr id="12" name="TextBox 11"/>
          <p:cNvSpPr txBox="1"/>
          <p:nvPr/>
        </p:nvSpPr>
        <p:spPr>
          <a:xfrm>
            <a:off x="2788920" y="1801367"/>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Application submitted — CVs, Concept Video, Technical Memo, Declaration</a:t>
            </a:r>
          </a:p>
        </p:txBody>
      </p:sp>
      <p:sp>
        <p:nvSpPr>
          <p:cNvPr id="13" name="Oval 12"/>
          <p:cNvSpPr/>
          <p:nvPr/>
        </p:nvSpPr>
        <p:spPr>
          <a:xfrm>
            <a:off x="2395728" y="2459735"/>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423159"/>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31 May 2026</a:t>
            </a:r>
          </a:p>
        </p:txBody>
      </p:sp>
      <p:sp>
        <p:nvSpPr>
          <p:cNvPr id="15" name="TextBox 14"/>
          <p:cNvSpPr txBox="1"/>
          <p:nvPr/>
        </p:nvSpPr>
        <p:spPr>
          <a:xfrm>
            <a:off x="2788920" y="2404871"/>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Shortlist announcement</a:t>
            </a:r>
          </a:p>
        </p:txBody>
      </p:sp>
      <p:sp>
        <p:nvSpPr>
          <p:cNvPr id="16" name="Oval 15"/>
          <p:cNvSpPr/>
          <p:nvPr/>
        </p:nvSpPr>
        <p:spPr>
          <a:xfrm>
            <a:off x="2395728" y="3063239"/>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026663"/>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5–10 Jun 2026</a:t>
            </a:r>
          </a:p>
        </p:txBody>
      </p:sp>
      <p:sp>
        <p:nvSpPr>
          <p:cNvPr id="18" name="TextBox 17"/>
          <p:cNvSpPr txBox="1"/>
          <p:nvPr/>
        </p:nvSpPr>
        <p:spPr>
          <a:xfrm>
            <a:off x="2788920" y="3008375"/>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ESCAP &amp; KMITL training workshops</a:t>
            </a:r>
          </a:p>
        </p:txBody>
      </p:sp>
      <p:sp>
        <p:nvSpPr>
          <p:cNvPr id="19" name="Oval 18"/>
          <p:cNvSpPr/>
          <p:nvPr/>
        </p:nvSpPr>
        <p:spPr>
          <a:xfrm>
            <a:off x="2395728" y="3666743"/>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630167"/>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20 Jul 2026</a:t>
            </a:r>
          </a:p>
        </p:txBody>
      </p:sp>
      <p:sp>
        <p:nvSpPr>
          <p:cNvPr id="21" name="TextBox 20"/>
          <p:cNvSpPr txBox="1"/>
          <p:nvPr/>
        </p:nvSpPr>
        <p:spPr>
          <a:xfrm>
            <a:off x="2788920" y="3611879"/>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Round 1 submission — tool evaluated on 3 provided countries</a:t>
            </a:r>
          </a:p>
        </p:txBody>
      </p:sp>
      <p:sp>
        <p:nvSpPr>
          <p:cNvPr id="22" name="Oval 21"/>
          <p:cNvSpPr/>
          <p:nvPr/>
        </p:nvSpPr>
        <p:spPr>
          <a:xfrm>
            <a:off x="2395728" y="4270247"/>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233671"/>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31 Jul 2026</a:t>
            </a:r>
          </a:p>
        </p:txBody>
      </p:sp>
      <p:sp>
        <p:nvSpPr>
          <p:cNvPr id="24" name="TextBox 23"/>
          <p:cNvSpPr txBox="1"/>
          <p:nvPr/>
        </p:nvSpPr>
        <p:spPr>
          <a:xfrm>
            <a:off x="2788920" y="4215383"/>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Hybrid pitch</a:t>
            </a:r>
          </a:p>
        </p:txBody>
      </p:sp>
      <p:sp>
        <p:nvSpPr>
          <p:cNvPr id="25" name="Oval 24"/>
          <p:cNvSpPr/>
          <p:nvPr/>
        </p:nvSpPr>
        <p:spPr>
          <a:xfrm>
            <a:off x="2395728" y="4873751"/>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837175"/>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30 Sep 2026</a:t>
            </a:r>
          </a:p>
        </p:txBody>
      </p:sp>
      <p:sp>
        <p:nvSpPr>
          <p:cNvPr id="27" name="TextBox 26"/>
          <p:cNvSpPr txBox="1"/>
          <p:nvPr/>
        </p:nvSpPr>
        <p:spPr>
          <a:xfrm>
            <a:off x="2788920" y="4818887"/>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Final submission</a:t>
            </a:r>
          </a:p>
        </p:txBody>
      </p:sp>
      <p:sp>
        <p:nvSpPr>
          <p:cNvPr id="28" name="Oval 27"/>
          <p:cNvSpPr/>
          <p:nvPr/>
        </p:nvSpPr>
        <p:spPr>
          <a:xfrm>
            <a:off x="2395728" y="5477255"/>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440679"/>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15 Oct 2026</a:t>
            </a:r>
          </a:p>
        </p:txBody>
      </p:sp>
      <p:sp>
        <p:nvSpPr>
          <p:cNvPr id="30" name="TextBox 29"/>
          <p:cNvSpPr txBox="1"/>
          <p:nvPr/>
        </p:nvSpPr>
        <p:spPr>
          <a:xfrm>
            <a:off x="2788920" y="5422391"/>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Award ceremony, Bangkok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10515600" cy="457200"/>
          </a:xfrm>
          <a:prstGeom prst="rect">
            <a:avLst/>
          </a:prstGeom>
          <a:noFill/>
        </p:spPr>
        <p:txBody>
          <a:bodyPr wrap="square" anchor="t" lIns="0" rIns="0" tIns="0" bIns="0">
            <a:spAutoFit/>
          </a:bodyPr>
          <a:lstStyle/>
          <a:p>
            <a:pPr algn="l">
              <a:spcBef>
                <a:spcPts val="0"/>
              </a:spcBef>
              <a:spcAft>
                <a:spcPts val="0"/>
              </a:spcAft>
            </a:pPr>
            <a:r>
              <a:rPr sz="1400" b="1" i="0">
                <a:solidFill>
                  <a:srgbClr val="9FC4E6"/>
                </a:solidFill>
                <a:latin typeface="Calibri"/>
              </a:rPr>
              <a:t>IN SUMMARY</a:t>
            </a:r>
          </a:p>
        </p:txBody>
      </p:sp>
      <p:sp>
        <p:nvSpPr>
          <p:cNvPr id="5" name="TextBox 4"/>
          <p:cNvSpPr txBox="1"/>
          <p:nvPr/>
        </p:nvSpPr>
        <p:spPr>
          <a:xfrm>
            <a:off x="822960" y="1920240"/>
            <a:ext cx="10607040" cy="128016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Georgia"/>
              </a:rPr>
              <a:t>A Deployable Pipeline That Did Not Exist Before</a:t>
            </a:r>
          </a:p>
        </p:txBody>
      </p:sp>
      <p:sp>
        <p:nvSpPr>
          <p:cNvPr id="6" name="TextBox 5"/>
          <p:cNvSpPr txBox="1"/>
          <p:nvPr/>
        </p:nvSpPr>
        <p:spPr>
          <a:xfrm>
            <a:off x="822960" y="3383280"/>
            <a:ext cx="10241280" cy="2377440"/>
          </a:xfrm>
          <a:prstGeom prst="rect">
            <a:avLst/>
          </a:prstGeom>
          <a:noFill/>
        </p:spPr>
        <p:txBody>
          <a:bodyPr wrap="square" anchor="t" lIns="0" rIns="0" tIns="0" bIns="0">
            <a:spAutoFit/>
          </a:bodyPr>
          <a:lstStyle/>
          <a:p>
            <a:pPr algn="l">
              <a:spcAft>
                <a:spcPts val="1400"/>
              </a:spcAft>
            </a:pPr>
            <a:r>
              <a:rPr sz="1700" b="1">
                <a:solidFill>
                  <a:srgbClr val="6FB0E0"/>
                </a:solidFill>
                <a:latin typeface="Calibri"/>
              </a:rPr>
              <a:t>—  </a:t>
            </a:r>
            <a:r>
              <a:rPr sz="1700" b="0">
                <a:solidFill>
                  <a:srgbClr val="DDE8F2"/>
                </a:solidFill>
                <a:latin typeface="Calibri"/>
              </a:rPr>
              <a:t>Automates ~80% of the RDTII discover → describe workflow for Pillars 6 and 7.</a:t>
            </a:r>
          </a:p>
          <a:p>
            <a:pPr algn="l">
              <a:spcAft>
                <a:spcPts val="1400"/>
              </a:spcAft>
            </a:pPr>
            <a:r>
              <a:rPr sz="1700" b="1">
                <a:solidFill>
                  <a:srgbClr val="6FB0E0"/>
                </a:solidFill>
                <a:latin typeface="Calibri"/>
              </a:rPr>
              <a:t>—  </a:t>
            </a:r>
            <a:r>
              <a:rPr sz="1700" b="0">
                <a:solidFill>
                  <a:srgbClr val="DDE8F2"/>
                </a:solidFill>
                <a:latin typeface="Calibri"/>
              </a:rPr>
              <a:t>Model-agnostic by design — open-weight, self-hostable, Apache 2.0.</a:t>
            </a:r>
          </a:p>
          <a:p>
            <a:pPr algn="l">
              <a:spcAft>
                <a:spcPts val="1400"/>
              </a:spcAft>
            </a:pPr>
            <a:r>
              <a:rPr sz="1700" b="1">
                <a:solidFill>
                  <a:srgbClr val="6FB0E0"/>
                </a:solidFill>
                <a:latin typeface="Calibri"/>
              </a:rPr>
              <a:t>—  </a:t>
            </a:r>
            <a:r>
              <a:rPr sz="1700" b="0">
                <a:solidFill>
                  <a:srgbClr val="DDE8F2"/>
                </a:solidFill>
                <a:latin typeface="Calibri"/>
              </a:rPr>
              <a:t>Article-level extraction with all 6 fields, traceable citations, and confidence scores.</a:t>
            </a:r>
          </a:p>
          <a:p>
            <a:pPr algn="l">
              <a:spcAft>
                <a:spcPts val="1400"/>
              </a:spcAft>
            </a:pPr>
            <a:r>
              <a:rPr sz="1700" b="1">
                <a:solidFill>
                  <a:srgbClr val="6FB0E0"/>
                </a:solidFill>
                <a:latin typeface="Calibri"/>
              </a:rPr>
              <a:t>—  </a:t>
            </a:r>
            <a:r>
              <a:rPr sz="1700" b="0">
                <a:solidFill>
                  <a:srgbClr val="DDE8F2"/>
                </a:solidFill>
                <a:latin typeface="Calibri"/>
              </a:rPr>
              <a:t>Human-first review and a navigable concept graph as the core contribution.</a:t>
            </a:r>
          </a:p>
        </p:txBody>
      </p:sp>
      <p:sp>
        <p:nvSpPr>
          <p:cNvPr id="7" name="Rectangle 6"/>
          <p:cNvSpPr/>
          <p:nvPr/>
        </p:nvSpPr>
        <p:spPr>
          <a:xfrm>
            <a:off x="822960" y="5852160"/>
            <a:ext cx="4572000" cy="254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035040"/>
            <a:ext cx="10058400" cy="548640"/>
          </a:xfrm>
          <a:prstGeom prst="rect">
            <a:avLst/>
          </a:prstGeom>
          <a:noFill/>
        </p:spPr>
        <p:txBody>
          <a:bodyPr wrap="square" anchor="t" lIns="0" rIns="0" tIns="0" bIns="0">
            <a:spAutoFit/>
          </a:bodyPr>
          <a:lstStyle/>
          <a:p>
            <a:pPr algn="l">
              <a:spcBef>
                <a:spcPts val="0"/>
              </a:spcBef>
              <a:spcAft>
                <a:spcPts val="0"/>
              </a:spcAft>
            </a:pPr>
            <a:r>
              <a:rPr sz="1300" b="0" i="0">
                <a:solidFill>
                  <a:srgbClr val="BFD2E5"/>
                </a:solidFill>
                <a:latin typeface="Calibri"/>
              </a:rPr>
              <a:t>Thank you.   ·   Repository to be published under Apache 2.0   ·   escap-digitaltrade-hackathon@un.org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