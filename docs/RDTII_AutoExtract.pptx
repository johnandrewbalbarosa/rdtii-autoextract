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[0:00–0:15] We are Team Arkova. We built RDTII AutoExtract — an open-source, model-agnostic pipeline that automates roughly eighty percent of the RDTII workflow for Pillars 6 and 7 across Asia-Pacific jurisdictions.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[0:15–0:40] The problem we tackle is simple: today the RDTII workflow is almost entirely manual. ESCAP researchers search government portals, retrieve PDFs, read dense legal text, and extract structured fields — article by article, across many jurisdictions and languages. It does not scale, and existing literature targets the EU AI Act and GDPR, not RDTII.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[0:40–1:00] Our six objectives follow directly. Automate discovery beyond the ESCAP database. Extract all six mandatory fields at article-level. Map every provision to Pillar 6 or 7 sub-indicators with verifiable citations. Ship a self-hostable open tool. Keep every AI component swappable. And provide a human-first review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[1:00–1:25] To make swappability real, we build on ports and adapters. The core domain depends only on interfaces — never on a concrete model. Every AI component — LLM, OCR, captioner, embeddings, vector store, graph library — is an adapter behind a port, changed via configuration. No vendor lock-in, no production proprietary dependency.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[1:25–2:35] The pipeline runs in five stages. Stages one and two handle automated discovery of legal documents. A crawler — Playwright with anti-bot handling and archive fallback — locates regulations on national portals, gazettes, and ministry sites, recording full provenance per document. Then OCR converts every format to clean text at under five percent character error rate, and a vision-language captioner produces a short descriptor of each section. That caption becomes the basis for every downstream tag, so we are not hostage to OCR noise on scanned or non-English documents. Stage three handles mapping. We tag each section multi-label against indicator labels, then a RAG-based LLM call extracts the six mandatory fields with strict JSON schema and a source citation. Stage four is human verification — a non-technical reviewer console where any mapping is accepted, rejected, or edited in seconds, with a direct link back to the source span.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[2:35–3:15] Stage five is our core contribution. From the tagged nodes, we derive two artifacts in parallel. The concept graph is subtractive — we start from the complete pairwise graph and drop edges below a calibrated threshold, leaving only topical borders. Then Louvain communities and weighted PageRank score importance within the surviving web. Independently, Formal Concept Analysis on the node-by-tag matrix produces a generality tree: more tags imply fewer matching sections, so depth equals specificity. Together they give us entry-point categories opening into ranked subcategories — navigable cross-jurisdiction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[3:15–3:35] Every model named here is a starting suggestion, not a commitment. Development uses Claude or GPT; production resolves to open-weight Llama 3.1 via Ollama with a single config change. All reused components are Apache-2.0 compatible, audited for license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[3:35–3:50] On viability — open-weight self-hosted cost is roughly five to ten cents per fifty-page document, API at ten to twenty-five cents. We are finale-ready for ten countries with no retraining. Everything ships via docker-compose on commodity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[3:50–3:55] The path to October runs from the May application through training workshops, Round 1, the hybrid pitch, and the Bangkok finale.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[3:55–4:00] To close: not a new model — a complete, deployable, open-source RDTII pipeline that does not yet exist. Auditable, multilingual, and built for the people who do the work.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FC4E6"/>
                </a:solidFill>
                <a:latin typeface="Calibri"/>
              </a:rPr>
              <a:t>GLOBAL HACKATHON ON AI FOR DIGITAL TRADE REGULATORY ANALYSIS  ·  UN ESCAP &amp; KMITL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Georgia"/>
              </a:rPr>
              <a:t>RDTII AutoExtract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D7E4F1"/>
                </a:solidFill>
                <a:latin typeface="Calibri"/>
              </a:rPr>
              <a:t>An Open-Source, Model-Agnostic AI Pipeline for Automated Digital Trade Regulatory Analysis Across Asia-Pacific Jurisdictions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343400"/>
            <a:ext cx="5486400" cy="254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FD2E5"/>
                </a:solidFill>
                <a:latin typeface="Calibri"/>
              </a:rPr>
              <a:t>Automating ~80% of the RDTII discover → describe workflow — Pillar 6 (Cross-Border Data Flows) and Pillar 7 (Domestic Data Protection) — at article-level granularity, with transparent human review for the final ~20%.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9FC4E6"/>
                </a:solidFill>
                <a:latin typeface="Calibri"/>
              </a:rPr>
              <a:t>Team Arkova   ·   Licensed under Apache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B2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E2A47"/>
                </a:solidFill>
                <a:latin typeface="Georgia"/>
              </a:rPr>
              <a:t>A Manual Workflow That Does Not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7780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B8C"/>
                </a:solidFill>
                <a:latin typeface="Calibri"/>
              </a:rPr>
              <a:t>RDTII AutoExtract  ·  UN ESCAP &amp; KMITL Global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B8C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7607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>
                <a:solidFill>
                  <a:srgbClr val="1F6FB2"/>
                </a:solidFill>
                <a:latin typeface="Calibri"/>
              </a:rPr>
              <a:t>—  </a:t>
            </a:r>
            <a:r>
              <a:rPr sz="1600" b="0">
                <a:solidFill>
                  <a:srgbClr val="334455"/>
                </a:solidFill>
                <a:latin typeface="Calibri"/>
              </a:rPr>
              <a:t>ESCAP researchers must manually search government portals, retrieve regulatory documents, read legal text, and extract structured data.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1F6FB2"/>
                </a:solidFill>
                <a:latin typeface="Calibri"/>
              </a:rPr>
              <a:t>—  </a:t>
            </a:r>
            <a:r>
              <a:rPr sz="1600" b="0">
                <a:solidFill>
                  <a:srgbClr val="334455"/>
                </a:solidFill>
                <a:latin typeface="Calibri"/>
              </a:rPr>
              <a:t>This is performed at article-level granularity, across many Asia-Pacific jurisdictions and multiple languages.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1F6FB2"/>
                </a:solidFill>
                <a:latin typeface="Calibri"/>
              </a:rPr>
              <a:t>—  </a:t>
            </a:r>
            <a:r>
              <a:rPr sz="1600" b="0">
                <a:solidFill>
                  <a:srgbClr val="334455"/>
                </a:solidFill>
                <a:latin typeface="Calibri"/>
              </a:rPr>
              <a:t>The process is time-intensive, difficult to scale, and dependent on researcher availability and language coverage.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2E8B6F"/>
                </a:solidFill>
                <a:latin typeface="Calibri"/>
              </a:rPr>
              <a:t>—  </a:t>
            </a:r>
            <a:r>
              <a:rPr sz="1600" b="0">
                <a:solidFill>
                  <a:srgbClr val="334455"/>
                </a:solidFill>
                <a:latin typeface="Calibri"/>
              </a:rPr>
              <a:t>Documents outside the existing ESCAP RDTII database are easily missed.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828800"/>
            <a:ext cx="4663440" cy="3931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2148840"/>
            <a:ext cx="40233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200" b="1" i="0">
                <a:solidFill>
                  <a:srgbClr val="6B7B8C"/>
                </a:solidFill>
                <a:latin typeface="Calibri"/>
              </a:rPr>
              <a:t>THE BURDEN TODAY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6FB2"/>
                </a:solidFill>
                <a:latin typeface="Georgia"/>
              </a:rPr>
              <a:t>100%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300" b="0" i="0">
                <a:solidFill>
                  <a:srgbClr val="334455"/>
                </a:solidFill>
                <a:latin typeface="Calibri"/>
              </a:rPr>
              <a:t>manual effort — search, read, extract, map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6FB2"/>
                </a:solidFill>
                <a:latin typeface="Georgia"/>
              </a:rPr>
              <a:t>Many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300" b="0" i="0">
                <a:solidFill>
                  <a:srgbClr val="334455"/>
                </a:solidFill>
                <a:latin typeface="Calibri"/>
              </a:rPr>
              <a:t>jurisdictions and languages to cover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6FB2"/>
                </a:solidFill>
                <a:latin typeface="Georgia"/>
              </a:rPr>
              <a:t>Per-article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300" b="0" i="0">
                <a:solidFill>
                  <a:srgbClr val="334455"/>
                </a:solidFill>
                <a:latin typeface="Calibri"/>
              </a:rPr>
              <a:t>granularity required for every document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B2"/>
                </a:solidFill>
                <a:latin typeface="Calibri"/>
              </a:rPr>
              <a:t>OUR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E2A47"/>
                </a:solidFill>
                <a:latin typeface="Georgia"/>
              </a:rPr>
              <a:t>Project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7780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B8C"/>
                </a:solidFill>
                <a:latin typeface="Calibri"/>
              </a:rPr>
              <a:t>RDTII AutoExtract  ·  UN ESCAP &amp; KMITL Global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B8C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3529584" cy="19202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82296" cy="19202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302666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B7B8C"/>
                </a:solidFill>
                <a:latin typeface="Georgia"/>
              </a:rPr>
              <a:t>01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E2A47"/>
                </a:solidFill>
                <a:latin typeface="Georgia"/>
              </a:rPr>
              <a:t>Automate discovery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455"/>
                </a:solidFill>
                <a:latin typeface="Calibri"/>
              </a:rPr>
              <a:t>Locate regulatory documents beyond the existing ESCAP RDTII database.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1828800"/>
            <a:ext cx="3529584" cy="19202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828800"/>
            <a:ext cx="82296" cy="19202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057400"/>
            <a:ext cx="302666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B7B8C"/>
                </a:solidFill>
                <a:latin typeface="Georgia"/>
              </a:rPr>
              <a:t>02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E2A47"/>
                </a:solidFill>
                <a:latin typeface="Georgia"/>
              </a:rPr>
              <a:t>Article-level extraction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455"/>
                </a:solidFill>
                <a:latin typeface="Calibri"/>
              </a:rPr>
              <a:t>Capture all six mandatory fields: title, last update, URL, scope, provisions, impact.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28432" y="1828800"/>
            <a:ext cx="3529584" cy="19202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432" y="1828800"/>
            <a:ext cx="82296" cy="19202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057400"/>
            <a:ext cx="302666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B7B8C"/>
                </a:solidFill>
                <a:latin typeface="Georgia"/>
              </a:rPr>
              <a:t>03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E2A47"/>
                </a:solidFill>
                <a:latin typeface="Georgia"/>
              </a:rPr>
              <a:t>Traceable mapping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455"/>
                </a:solidFill>
                <a:latin typeface="Calibri"/>
              </a:rPr>
              <a:t>Map provisions to Pillar 6 and 7 sub-indicators with verifiable citations.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31920"/>
            <a:ext cx="3529584" cy="19202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931920"/>
            <a:ext cx="82296" cy="1920240"/>
          </a:xfrm>
          <a:prstGeom prst="rect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302666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B7B8C"/>
                </a:solidFill>
                <a:latin typeface="Georgia"/>
              </a:rPr>
              <a:t>04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E2A47"/>
                </a:solidFill>
                <a:latin typeface="Georgia"/>
              </a:rPr>
              <a:t>Self-hostable &amp; open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455"/>
                </a:solidFill>
                <a:latin typeface="Calibri"/>
              </a:rPr>
              <a:t>Deliver an open-source tool deployable without proprietary infrastructure.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34256" y="3931920"/>
            <a:ext cx="3529584" cy="19202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34256" y="3931920"/>
            <a:ext cx="82296" cy="1920240"/>
          </a:xfrm>
          <a:prstGeom prst="rect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8576" y="4160520"/>
            <a:ext cx="302666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B7B8C"/>
                </a:solidFill>
                <a:latin typeface="Georgia"/>
              </a:rPr>
              <a:t>05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E2A47"/>
                </a:solidFill>
                <a:latin typeface="Georgia"/>
              </a:rPr>
              <a:t>Model-agnostic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455"/>
                </a:solidFill>
                <a:latin typeface="Calibri"/>
              </a:rPr>
              <a:t>Make every AI component swappable to open-weight models (e.g. Llama 3) via config.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28432" y="3931920"/>
            <a:ext cx="3529584" cy="19202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28432" y="3931920"/>
            <a:ext cx="82296" cy="1920240"/>
          </a:xfrm>
          <a:prstGeom prst="rect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4160520"/>
            <a:ext cx="302666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B7B8C"/>
                </a:solidFill>
                <a:latin typeface="Georgia"/>
              </a:rPr>
              <a:t>06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E2A47"/>
                </a:solidFill>
                <a:latin typeface="Georgia"/>
              </a:rPr>
              <a:t>Human-first review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455"/>
                </a:solidFill>
                <a:latin typeface="Calibri"/>
              </a:rPr>
              <a:t>Provide a non-technical UI where any mapping can be verified or rejected in 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B2"/>
                </a:solidFill>
                <a:latin typeface="Calibri"/>
              </a:rPr>
              <a:t>DESIGN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E2A47"/>
                </a:solidFill>
                <a:latin typeface="Georgia"/>
              </a:rPr>
              <a:t>Ports &amp; Adapters: A Model-Agnostic 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7780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B8C"/>
                </a:solidFill>
                <a:latin typeface="Calibri"/>
              </a:rPr>
              <a:t>RDTII AutoExtract  ·  UN ESCAP &amp; KMITL Global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B8C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949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1F6FB2"/>
                </a:solidFill>
                <a:latin typeface="Calibri"/>
              </a:rPr>
              <a:t>—  </a:t>
            </a:r>
            <a:r>
              <a:rPr sz="1600" b="1">
                <a:solidFill>
                  <a:srgbClr val="334455"/>
                </a:solidFill>
                <a:latin typeface="Calibri"/>
              </a:rPr>
              <a:t>Built on ports &amp; adapters (hexagonal) architecture.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1F6FB2"/>
                </a:solidFill>
                <a:latin typeface="Calibri"/>
              </a:rPr>
              <a:t>—  </a:t>
            </a:r>
            <a:r>
              <a:rPr sz="1500" b="0">
                <a:solidFill>
                  <a:srgbClr val="334455"/>
                </a:solidFill>
                <a:latin typeface="Calibri"/>
              </a:rPr>
              <a:t>The core domain depends only on interfaces — never on a concrete model.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1F6FB2"/>
                </a:solidFill>
                <a:latin typeface="Calibri"/>
              </a:rPr>
              <a:t>—  </a:t>
            </a:r>
            <a:r>
              <a:rPr sz="1500" b="0">
                <a:solidFill>
                  <a:srgbClr val="334455"/>
                </a:solidFill>
                <a:latin typeface="Calibri"/>
              </a:rPr>
              <a:t>Every AI model (LLM, OCR, captioner, embeddings, graph) is a swappable suggestion, changed via config — no domain edits.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8B6F"/>
                </a:solidFill>
                <a:latin typeface="Calibri"/>
              </a:rPr>
              <a:t>—  </a:t>
            </a:r>
            <a:r>
              <a:rPr sz="1500" b="0">
                <a:solidFill>
                  <a:srgbClr val="334455"/>
                </a:solidFill>
                <a:latin typeface="Calibri"/>
              </a:rPr>
              <a:t>Development can use a paid API; production resolves to open-weight (Llama 3.1 via Ollama) with a single config change.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2E8B6F"/>
                </a:solidFill>
                <a:latin typeface="Calibri"/>
              </a:rPr>
              <a:t>—  </a:t>
            </a:r>
            <a:r>
              <a:rPr sz="1500" b="1">
                <a:solidFill>
                  <a:srgbClr val="334455"/>
                </a:solidFill>
                <a:latin typeface="Calibri"/>
              </a:rPr>
              <a:t>Swappability is explicitly scored: 20 points in Stage 1 plus 20 points in Stage 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3108960"/>
            <a:ext cx="2103120" cy="10972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3246120"/>
            <a:ext cx="2103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CORE DOMAIN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9FC4E6"/>
                </a:solidFill>
                <a:latin typeface="Calibri"/>
              </a:rPr>
              <a:t>ports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920240"/>
            <a:ext cx="1417320" cy="384048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Calibri"/>
              </a:rPr>
              <a:t>LLM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920240"/>
            <a:ext cx="1417320" cy="384048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Calibri"/>
              </a:rPr>
              <a:t>OCR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0" y="3200400"/>
            <a:ext cx="1417320" cy="384048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Calibri"/>
              </a:rPr>
              <a:t>Captioner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480560"/>
            <a:ext cx="1417320" cy="384048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Calibri"/>
              </a:rPr>
              <a:t>Embeddings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4480560"/>
            <a:ext cx="1417320" cy="384048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Calibri"/>
              </a:rPr>
              <a:t>Vector store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0" y="5212080"/>
            <a:ext cx="1417320" cy="384048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Calibri"/>
              </a:rPr>
              <a:t>Graph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B2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E2A47"/>
                </a:solidFill>
                <a:latin typeface="Georgia"/>
              </a:rPr>
              <a:t>The Five-Stage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7780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B8C"/>
                </a:solidFill>
                <a:latin typeface="Calibri"/>
              </a:rPr>
              <a:t>RDTII AutoExtract  ·  UN ESCAP &amp; KMITL Global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B8C"/>
                </a:solidFill>
                <a:latin typeface="Calibr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084831" cy="3108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2084831" cy="6400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76272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STAGE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71800"/>
            <a:ext cx="1719071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E2A47"/>
                </a:solidFill>
                <a:latin typeface="Georgia"/>
              </a:rPr>
              <a:t>Discovery &amp; Retrieval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4455"/>
                </a:solidFill>
                <a:latin typeface="Calibri"/>
              </a:rPr>
              <a:t>Crawl national portals, gazettes, and ministry sites; capture full provenance per document.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6623" y="3383280"/>
            <a:ext cx="182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6B7B8C"/>
                </a:solidFill>
                <a:latin typeface="Calibri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43783" y="2103120"/>
            <a:ext cx="2084831" cy="3108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43783" y="2103120"/>
            <a:ext cx="2084831" cy="6400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43783" y="2176272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6663" y="2971800"/>
            <a:ext cx="1719071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E2A47"/>
                </a:solidFill>
                <a:latin typeface="Georgia"/>
              </a:rPr>
              <a:t>OCR &amp; Captioning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4455"/>
                </a:solidFill>
                <a:latin typeface="Calibri"/>
              </a:rPr>
              <a:t>Convert any format to clean text at &lt;5% CER; SigLIP-style captions become the basis for tags.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6" y="3383280"/>
            <a:ext cx="182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6B7B8C"/>
                </a:solidFill>
                <a:latin typeface="Calibri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47486" y="2103120"/>
            <a:ext cx="2084831" cy="3108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7486" y="2103120"/>
            <a:ext cx="2084831" cy="6400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7486" y="2176272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6" y="2971800"/>
            <a:ext cx="1719071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E2A47"/>
                </a:solidFill>
                <a:latin typeface="Georgia"/>
              </a:rPr>
              <a:t>Tagging &amp; Extraction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4455"/>
                </a:solidFill>
                <a:latin typeface="Calibri"/>
              </a:rPr>
              <a:t>Multi-label tag each article; RAG extracts all 6 fields with citations and confidence scores.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29" y="3383280"/>
            <a:ext cx="182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6B7B8C"/>
                </a:solidFill>
                <a:latin typeface="Calibri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51189" y="2103120"/>
            <a:ext cx="2084831" cy="3108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51189" y="2103120"/>
            <a:ext cx="2084831" cy="640080"/>
          </a:xfrm>
          <a:prstGeom prst="rect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51189" y="2176272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4069" y="2971800"/>
            <a:ext cx="1719071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E2A47"/>
                </a:solidFill>
                <a:latin typeface="Georgia"/>
              </a:rPr>
              <a:t>Human Review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4455"/>
                </a:solidFill>
                <a:latin typeface="Calibri"/>
              </a:rPr>
              <a:t>Non-technical UI: Accept, Reject, or Edit each mapping in seconds, linked to the source.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7732" y="3383280"/>
            <a:ext cx="182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6B7B8C"/>
                </a:solidFill>
                <a:latin typeface="Calibri"/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54892" y="2103120"/>
            <a:ext cx="2084831" cy="3108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54892" y="2103120"/>
            <a:ext cx="2084831" cy="640080"/>
          </a:xfrm>
          <a:prstGeom prst="rect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54892" y="2176272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STAGE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2" y="2971800"/>
            <a:ext cx="1719071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E2A47"/>
                </a:solidFill>
                <a:latin typeface="Georgia"/>
              </a:rPr>
              <a:t>Concept Graph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4455"/>
                </a:solidFill>
                <a:latin typeface="Calibri"/>
              </a:rPr>
              <a:t>Connect tagged provisions into a weighted, pruned, navigable graph — the core contribution.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6B7B8C"/>
                </a:solidFill>
                <a:latin typeface="Calibri"/>
              </a:rPr>
              <a:t>discover  →  describe  (Stages 1–4)        +        connect  (Stage 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7962284" y="4457700"/>
            <a:ext cx="1227436" cy="617220"/>
          </a:xfrm>
          <a:prstGeom prst="bentConnector3">
            <a:avLst/>
          </a:prstGeom>
          <a:ln w="19050">
            <a:solidFill>
              <a:srgbClr val="D6DD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89720" y="2606040"/>
            <a:ext cx="1227435" cy="617220"/>
          </a:xfrm>
          <a:prstGeom prst="bentConnector3">
            <a:avLst/>
          </a:prstGeom>
          <a:ln w="19050">
            <a:solidFill>
              <a:srgbClr val="D6DD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7962284" y="3223260"/>
            <a:ext cx="1227436" cy="617220"/>
          </a:xfrm>
          <a:prstGeom prst="bentConnector3">
            <a:avLst/>
          </a:prstGeom>
          <a:ln w="19050">
            <a:solidFill>
              <a:srgbClr val="D6DD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962284" y="3840480"/>
            <a:ext cx="1227436" cy="617220"/>
          </a:xfrm>
          <a:prstGeom prst="bentConnector3">
            <a:avLst/>
          </a:prstGeom>
          <a:ln w="19050">
            <a:solidFill>
              <a:srgbClr val="D6DD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89720" y="3840480"/>
            <a:ext cx="0" cy="1234440"/>
          </a:xfrm>
          <a:prstGeom prst="bentConnector3">
            <a:avLst/>
          </a:prstGeom>
          <a:ln w="19050">
            <a:solidFill>
              <a:srgbClr val="D6DD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89720" y="3840480"/>
            <a:ext cx="1227435" cy="617220"/>
          </a:xfrm>
          <a:prstGeom prst="bentConnector3">
            <a:avLst/>
          </a:prstGeom>
          <a:ln w="19050">
            <a:solidFill>
              <a:srgbClr val="D6DD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189720" y="3223260"/>
            <a:ext cx="1227435" cy="617220"/>
          </a:xfrm>
          <a:prstGeom prst="bentConnector3">
            <a:avLst/>
          </a:prstGeom>
          <a:ln w="19050">
            <a:solidFill>
              <a:srgbClr val="D6DD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89720" y="2606040"/>
            <a:ext cx="0" cy="1234440"/>
          </a:xfrm>
          <a:prstGeom prst="bentConnector3">
            <a:avLst/>
          </a:prstGeom>
          <a:ln w="19050">
            <a:solidFill>
              <a:srgbClr val="D6DD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B2"/>
                </a:solidFill>
                <a:latin typeface="Calibri"/>
              </a:rPr>
              <a:t>CORE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E2A47"/>
                </a:solidFill>
                <a:latin typeface="Georgia"/>
              </a:rPr>
              <a:t>Stage 5 — The Concept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7780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B8C"/>
                </a:solidFill>
                <a:latin typeface="Calibri"/>
              </a:rPr>
              <a:t>RDTII AutoExtract  ·  UN ESCAP &amp; KMITL Global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B8C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852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1F6FB2"/>
                </a:solidFill>
                <a:latin typeface="Calibri"/>
              </a:rPr>
              <a:t>—  One shared seed: tagged nodes from Stage 3. Stage 5 derives two artifacts in parallel.</a:t>
            </a:r>
          </a:p>
          <a:p>
            <a:r>
              <a:rPr sz="1500" b="1">
                <a:solidFill>
                  <a:srgbClr val="1F6FB2"/>
                </a:solidFill>
                <a:latin typeface="Calibri"/>
              </a:rPr>
              <a:t>—  Concept graph (subtractive): start from the complete pairwise graph, then drop edges where w = α·IDF-Jaccard(tags) + (1−α)·cosine(emb) falls below a calibrated θ. Louvain communities + weighted PageRank score influence.</a:t>
            </a:r>
          </a:p>
          <a:p>
            <a:r>
              <a:rPr sz="1500" b="1">
                <a:solidFill>
                  <a:srgbClr val="1F6FB2"/>
                </a:solidFill>
                <a:latin typeface="Calibri"/>
              </a:rPr>
              <a:t>—  Generality tree (algebraic): Formal Concept Analysis on the node × tag matrix — independent of graph edges. Intent = tags, extent = sections; more tags ⇒ deeper, more specific. Together: entry-point category → PageRank-ranked subcategories.</a:t>
            </a:r>
          </a:p>
          <a:p>
            <a:r>
              <a:rPr sz="1500" b="1">
                <a:solidFill>
                  <a:srgbClr val="1F6FB2"/>
                </a:solidFill>
                <a:latin typeface="Calibri"/>
              </a:rPr>
              <a:t>—  Pseudo-deterministic: fixed seeds + θ ⇒ reproducible. Every edge stores its basis (shared tags, cosine) — no black-box connections.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920240"/>
            <a:ext cx="4663440" cy="38404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32520" y="2148840"/>
            <a:ext cx="914400" cy="914400"/>
          </a:xfrm>
          <a:prstGeom prst="ellipse">
            <a:avLst/>
          </a:prstGeom>
          <a:solidFill>
            <a:srgbClr val="2E8B6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Transfer</a:t>
            </a:r>
          </a:p>
        </p:txBody>
      </p:sp>
      <p:sp>
        <p:nvSpPr>
          <p:cNvPr id="20" name="Oval 19"/>
          <p:cNvSpPr/>
          <p:nvPr/>
        </p:nvSpPr>
        <p:spPr>
          <a:xfrm>
            <a:off x="9959955" y="2766060"/>
            <a:ext cx="914400" cy="914400"/>
          </a:xfrm>
          <a:prstGeom prst="ellipse">
            <a:avLst/>
          </a:prstGeom>
          <a:solidFill>
            <a:srgbClr val="2E8B6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Consent</a:t>
            </a:r>
          </a:p>
        </p:txBody>
      </p:sp>
      <p:sp>
        <p:nvSpPr>
          <p:cNvPr id="21" name="Oval 20"/>
          <p:cNvSpPr/>
          <p:nvPr/>
        </p:nvSpPr>
        <p:spPr>
          <a:xfrm>
            <a:off x="9959955" y="4000500"/>
            <a:ext cx="914400" cy="914400"/>
          </a:xfrm>
          <a:prstGeom prst="ellipse">
            <a:avLst/>
          </a:prstGeom>
          <a:solidFill>
            <a:srgbClr val="1F6FB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Localization</a:t>
            </a:r>
          </a:p>
        </p:txBody>
      </p:sp>
      <p:sp>
        <p:nvSpPr>
          <p:cNvPr id="22" name="Oval 21"/>
          <p:cNvSpPr/>
          <p:nvPr/>
        </p:nvSpPr>
        <p:spPr>
          <a:xfrm>
            <a:off x="8732520" y="4617720"/>
            <a:ext cx="914400" cy="914400"/>
          </a:xfrm>
          <a:prstGeom prst="ellipse">
            <a:avLst/>
          </a:prstGeom>
          <a:solidFill>
            <a:srgbClr val="1F6FB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Breach</a:t>
            </a:r>
          </a:p>
        </p:txBody>
      </p:sp>
      <p:sp>
        <p:nvSpPr>
          <p:cNvPr id="23" name="Oval 22"/>
          <p:cNvSpPr/>
          <p:nvPr/>
        </p:nvSpPr>
        <p:spPr>
          <a:xfrm>
            <a:off x="7505084" y="4000500"/>
            <a:ext cx="914400" cy="914400"/>
          </a:xfrm>
          <a:prstGeom prst="ellipse">
            <a:avLst/>
          </a:prstGeom>
          <a:solidFill>
            <a:srgbClr val="2E8B6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DPA</a:t>
            </a:r>
          </a:p>
        </p:txBody>
      </p:sp>
      <p:sp>
        <p:nvSpPr>
          <p:cNvPr id="24" name="Oval 23"/>
          <p:cNvSpPr/>
          <p:nvPr/>
        </p:nvSpPr>
        <p:spPr>
          <a:xfrm>
            <a:off x="7505084" y="2766060"/>
            <a:ext cx="914400" cy="914400"/>
          </a:xfrm>
          <a:prstGeom prst="ellipse">
            <a:avLst/>
          </a:prstGeom>
          <a:solidFill>
            <a:srgbClr val="1F6FB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Adequacy</a:t>
            </a:r>
          </a:p>
        </p:txBody>
      </p:sp>
      <p:sp>
        <p:nvSpPr>
          <p:cNvPr id="25" name="Oval 24"/>
          <p:cNvSpPr/>
          <p:nvPr/>
        </p:nvSpPr>
        <p:spPr>
          <a:xfrm>
            <a:off x="8549640" y="3200400"/>
            <a:ext cx="1280160" cy="1280160"/>
          </a:xfrm>
          <a:prstGeom prst="ellipse">
            <a:avLst/>
          </a:prstGeom>
          <a:solidFill>
            <a:srgbClr val="0E2A4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</a:t>
            </a:r>
            <a:br/>
            <a:r>
              <a:t>Flows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B2"/>
                </a:solidFill>
                <a:latin typeface="Calibri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E2A47"/>
                </a:solidFill>
                <a:latin typeface="Georgia"/>
              </a:rPr>
              <a:t>Technology Stack — Every Layer Behind a 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7780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B8C"/>
                </a:solidFill>
                <a:latin typeface="Calibri"/>
              </a:rPr>
              <a:t>RDTII AutoExtract  ·  UN ESCAP &amp; KMITL Global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B8C"/>
                </a:solidFill>
                <a:latin typeface="Calibr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10908792" cy="457200"/>
          </a:xfrm>
          <a:prstGeom prst="rect">
            <a:avLst/>
          </a:prstGeom>
          <a:solidFill>
            <a:srgbClr val="0E2A47"/>
          </a:solidFill>
          <a:ln w="635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78308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Layer (port)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7952" y="178308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Suggested adapter (dev)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1783080"/>
            <a:ext cx="29535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Open-weight target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240280"/>
            <a:ext cx="10908792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24028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A47"/>
                </a:solidFill>
                <a:latin typeface="Calibri"/>
              </a:rPr>
              <a:t>LLM  ·  LLMProvider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7952" y="224028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455"/>
                </a:solidFill>
                <a:latin typeface="Calibri"/>
              </a:rPr>
              <a:t>Claude / GPT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240280"/>
            <a:ext cx="29535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455"/>
                </a:solidFill>
                <a:latin typeface="Calibri"/>
              </a:rPr>
              <a:t>Llama 3.1 8B/70B via Ollama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697480"/>
            <a:ext cx="1090879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269748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A47"/>
                </a:solidFill>
                <a:latin typeface="Calibri"/>
              </a:rPr>
              <a:t>Captioning  ·  Captioner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269748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455"/>
                </a:solidFill>
                <a:latin typeface="Calibri"/>
              </a:rPr>
              <a:t>Qwen2-VL / ColQwen2 (Apache)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697480"/>
            <a:ext cx="29535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455"/>
                </a:solidFill>
                <a:latin typeface="Calibri"/>
              </a:rPr>
              <a:t>Same; OCR-text fallback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154680"/>
            <a:ext cx="10908792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15468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A47"/>
                </a:solidFill>
                <a:latin typeface="Calibri"/>
              </a:rPr>
              <a:t>Embeddings  ·  Tagger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87952" y="315468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455"/>
                </a:solidFill>
                <a:latin typeface="Calibri"/>
              </a:rPr>
              <a:t>BGE-M3 (multilingual, MIT)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3154680"/>
            <a:ext cx="29535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455"/>
                </a:solidFill>
                <a:latin typeface="Calibri"/>
              </a:rPr>
              <a:t>Same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611880"/>
            <a:ext cx="1090879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61188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A47"/>
                </a:solidFill>
                <a:latin typeface="Calibri"/>
              </a:rPr>
              <a:t>OCR  ·  OCREngine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87952" y="361188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455"/>
                </a:solidFill>
                <a:latin typeface="Calibri"/>
              </a:rPr>
              <a:t>Tesseract 5 + OpenCV / PaddleOCR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3611880"/>
            <a:ext cx="29535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455"/>
                </a:solidFill>
                <a:latin typeface="Calibri"/>
              </a:rPr>
              <a:t>Same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069080"/>
            <a:ext cx="10908792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06908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A47"/>
                </a:solidFill>
                <a:latin typeface="Calibri"/>
              </a:rPr>
              <a:t>Vector 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87952" y="406908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455"/>
                </a:solidFill>
                <a:latin typeface="Calibri"/>
              </a:rPr>
              <a:t>pgvector / Chroma (self-hostable)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4069080"/>
            <a:ext cx="29535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455"/>
                </a:solidFill>
                <a:latin typeface="Calibri"/>
              </a:rPr>
              <a:t>Same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526280"/>
            <a:ext cx="1090879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452628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A47"/>
                </a:solidFill>
                <a:latin typeface="Calibri"/>
              </a:rPr>
              <a:t>Graph + ranking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87952" y="452628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455"/>
                </a:solidFill>
                <a:latin typeface="Calibri"/>
              </a:rPr>
              <a:t>NetworkX (BSD) + FCA concepts (MIT)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5632" y="4526280"/>
            <a:ext cx="29535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455"/>
                </a:solidFill>
                <a:latin typeface="Calibri"/>
              </a:rPr>
              <a:t>Same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983480"/>
            <a:ext cx="10908792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498348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A47"/>
                </a:solidFill>
                <a:latin typeface="Calibri"/>
              </a:rPr>
              <a:t>Backend / Frontend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87952" y="498348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455"/>
                </a:solidFill>
                <a:latin typeface="Calibri"/>
              </a:rPr>
              <a:t>FastAPI  ·  React / Next.js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85632" y="4983480"/>
            <a:ext cx="29535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455"/>
                </a:solidFill>
                <a:latin typeface="Calibri"/>
              </a:rPr>
              <a:t>Same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440680"/>
            <a:ext cx="1090879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544068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A47"/>
                </a:solidFill>
                <a:latin typeface="Calibri"/>
              </a:rPr>
              <a:t>Deployment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87952" y="544068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455"/>
                </a:solidFill>
                <a:latin typeface="Calibri"/>
              </a:rPr>
              <a:t>Docker + docker-compose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85632" y="5440680"/>
            <a:ext cx="29535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455"/>
                </a:solidFill>
                <a:latin typeface="Calibri"/>
              </a:rPr>
              <a:t>Same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B7B8C"/>
                </a:solidFill>
                <a:latin typeface="Calibri"/>
              </a:rPr>
              <a:t>All components are Apache-2.0-compatible. Named models are reference suggestions, not commitments.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B2"/>
                </a:solidFill>
                <a:latin typeface="Calibri"/>
              </a:rPr>
              <a:t>EVIDENCE &amp; VIABILITY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E2A47"/>
                </a:solidFill>
                <a:latin typeface="Georgia"/>
              </a:rPr>
              <a:t>Coverage, Cost, and Sustainability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7780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B8C"/>
                </a:solidFill>
                <a:latin typeface="Calibri"/>
              </a:rPr>
              <a:t>RDTII AutoExtract  ·  UN ESCAP &amp; KMITL Global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B8C"/>
                </a:solidFill>
                <a:latin typeface="Calibr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3529584" cy="3977639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352958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83664"/>
            <a:ext cx="35295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606040"/>
            <a:ext cx="3072384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1F6FB2"/>
                </a:solidFill>
                <a:latin typeface="Calibri"/>
              </a:rPr>
              <a:t>—  </a:t>
            </a:r>
            <a:r>
              <a:rPr sz="1300" b="0">
                <a:solidFill>
                  <a:srgbClr val="334455"/>
                </a:solidFill>
                <a:latin typeface="Calibri"/>
              </a:rPr>
              <a:t>Round 1: evaluated on 5–10 documents from 3 provided countries.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1F6FB2"/>
                </a:solidFill>
                <a:latin typeface="Calibri"/>
              </a:rPr>
              <a:t>—  </a:t>
            </a:r>
            <a:r>
              <a:rPr sz="1300" b="0">
                <a:solidFill>
                  <a:srgbClr val="334455"/>
                </a:solidFill>
                <a:latin typeface="Calibri"/>
              </a:rPr>
              <a:t>At least one non-English jurisdiction handled via the translation pipeline.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1F6FB2"/>
                </a:solidFill>
                <a:latin typeface="Calibri"/>
              </a:rPr>
              <a:t>—  </a:t>
            </a:r>
            <a:r>
              <a:rPr sz="1300" b="0">
                <a:solidFill>
                  <a:srgbClr val="334455"/>
                </a:solidFill>
                <a:latin typeface="Calibri"/>
              </a:rPr>
              <a:t>Finale-ready for 10 assigned countries — no retraining required.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1828800"/>
            <a:ext cx="3529584" cy="3977639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828800"/>
            <a:ext cx="3529584" cy="566928"/>
          </a:xfrm>
          <a:prstGeom prst="rect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1883664"/>
            <a:ext cx="35295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606040"/>
            <a:ext cx="3072384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2E8B6F"/>
                </a:solidFill>
                <a:latin typeface="Calibri"/>
              </a:rPr>
              <a:t>—  </a:t>
            </a:r>
            <a:r>
              <a:rPr sz="1300" b="0">
                <a:solidFill>
                  <a:srgbClr val="334455"/>
                </a:solidFill>
                <a:latin typeface="Calibri"/>
              </a:rPr>
              <a:t>Open-weight (local Llama 3.1 8B): ≈ USD 0.00 in API fees per 50-page document.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2E8B6F"/>
                </a:solidFill>
                <a:latin typeface="Calibri"/>
              </a:rPr>
              <a:t>—  </a:t>
            </a:r>
            <a:r>
              <a:rPr sz="1300" b="0">
                <a:solidFill>
                  <a:srgbClr val="334455"/>
                </a:solidFill>
                <a:latin typeface="Calibri"/>
              </a:rPr>
              <a:t>Cloud GPU compute: ≈ USD 0.05–0.10 per document at batch rates.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2E8B6F"/>
                </a:solidFill>
                <a:latin typeface="Calibri"/>
              </a:rPr>
              <a:t>—  </a:t>
            </a:r>
            <a:r>
              <a:rPr sz="1300" b="0">
                <a:solidFill>
                  <a:srgbClr val="334455"/>
                </a:solidFill>
                <a:latin typeface="Calibri"/>
              </a:rPr>
              <a:t>API configuration: ≈ USD 0.10–0.25 per document.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1828800"/>
            <a:ext cx="3529584" cy="3977639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2" y="1828800"/>
            <a:ext cx="3529584" cy="5669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2" y="1883664"/>
            <a:ext cx="35295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SUSTAINABILITY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606040"/>
            <a:ext cx="3072384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0E2A47"/>
                </a:solidFill>
                <a:latin typeface="Calibri"/>
              </a:rPr>
              <a:t>—  </a:t>
            </a:r>
            <a:r>
              <a:rPr sz="1300" b="0">
                <a:solidFill>
                  <a:srgbClr val="334455"/>
                </a:solidFill>
                <a:latin typeface="Calibri"/>
              </a:rPr>
              <a:t>Fully self-hostable via Docker on commodity hardware.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0E2A47"/>
                </a:solidFill>
                <a:latin typeface="Calibri"/>
              </a:rPr>
              <a:t>—  </a:t>
            </a:r>
            <a:r>
              <a:rPr sz="1300" b="0">
                <a:solidFill>
                  <a:srgbClr val="334455"/>
                </a:solidFill>
                <a:latin typeface="Calibri"/>
              </a:rPr>
              <a:t>No proprietary API dependency in production.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0E2A47"/>
                </a:solidFill>
                <a:latin typeface="Calibri"/>
              </a:rPr>
              <a:t>—  </a:t>
            </a:r>
            <a:r>
              <a:rPr sz="1300" b="0">
                <a:solidFill>
                  <a:srgbClr val="334455"/>
                </a:solidFill>
                <a:latin typeface="Calibri"/>
              </a:rPr>
              <a:t>Modular: OCR, LLM, and vector DB upgrade independently.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B2"/>
                </a:solidFill>
                <a:latin typeface="Calibri"/>
              </a:rPr>
              <a:t>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E2A47"/>
                </a:solidFill>
                <a:latin typeface="Georgia"/>
              </a:rPr>
              <a:t>Key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17780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B8C"/>
                </a:solidFill>
                <a:latin typeface="Calibri"/>
              </a:rPr>
              <a:t>RDTII AutoExtract  ·  UN ESCAP &amp; KMITL Global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B8C"/>
                </a:solidFill>
                <a:latin typeface="Calibr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874519"/>
            <a:ext cx="31750" cy="3712464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395728" y="1856231"/>
            <a:ext cx="201168" cy="20116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19655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A47"/>
                </a:solidFill>
                <a:latin typeface="Calibri"/>
              </a:rPr>
              <a:t>25 May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801367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455"/>
                </a:solidFill>
                <a:latin typeface="Calibri"/>
              </a:rPr>
              <a:t>Application submitted — CVs, Concept Video, Technical Memo, Declaration</a:t>
            </a:r>
          </a:p>
        </p:txBody>
      </p:sp>
      <p:sp>
        <p:nvSpPr>
          <p:cNvPr id="13" name="Oval 12"/>
          <p:cNvSpPr/>
          <p:nvPr/>
        </p:nvSpPr>
        <p:spPr>
          <a:xfrm>
            <a:off x="2395728" y="2459735"/>
            <a:ext cx="201168" cy="201168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23159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A47"/>
                </a:solidFill>
                <a:latin typeface="Calibri"/>
              </a:rPr>
              <a:t>31 May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404871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455"/>
                </a:solidFill>
                <a:latin typeface="Calibri"/>
              </a:rPr>
              <a:t>Shortlist announcement</a:t>
            </a:r>
          </a:p>
        </p:txBody>
      </p:sp>
      <p:sp>
        <p:nvSpPr>
          <p:cNvPr id="16" name="Oval 15"/>
          <p:cNvSpPr/>
          <p:nvPr/>
        </p:nvSpPr>
        <p:spPr>
          <a:xfrm>
            <a:off x="2395728" y="3063239"/>
            <a:ext cx="201168" cy="201168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26663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A47"/>
                </a:solidFill>
                <a:latin typeface="Calibri"/>
              </a:rPr>
              <a:t>5–10 Jun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008375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455"/>
                </a:solidFill>
                <a:latin typeface="Calibri"/>
              </a:rPr>
              <a:t>ESCAP &amp; KMITL training workshops</a:t>
            </a:r>
          </a:p>
        </p:txBody>
      </p:sp>
      <p:sp>
        <p:nvSpPr>
          <p:cNvPr id="19" name="Oval 18"/>
          <p:cNvSpPr/>
          <p:nvPr/>
        </p:nvSpPr>
        <p:spPr>
          <a:xfrm>
            <a:off x="2395728" y="3666743"/>
            <a:ext cx="201168" cy="201168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30167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A47"/>
                </a:solidFill>
                <a:latin typeface="Calibri"/>
              </a:rPr>
              <a:t>20 Jul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611879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455"/>
                </a:solidFill>
                <a:latin typeface="Calibri"/>
              </a:rPr>
              <a:t>Round 1 submission — tool evaluated on 3 provided countries</a:t>
            </a:r>
          </a:p>
        </p:txBody>
      </p:sp>
      <p:sp>
        <p:nvSpPr>
          <p:cNvPr id="22" name="Oval 21"/>
          <p:cNvSpPr/>
          <p:nvPr/>
        </p:nvSpPr>
        <p:spPr>
          <a:xfrm>
            <a:off x="2395728" y="4270247"/>
            <a:ext cx="201168" cy="201168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33671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A47"/>
                </a:solidFill>
                <a:latin typeface="Calibri"/>
              </a:rPr>
              <a:t>31 Jul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4215383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455"/>
                </a:solidFill>
                <a:latin typeface="Calibri"/>
              </a:rPr>
              <a:t>Hybrid pitch</a:t>
            </a:r>
          </a:p>
        </p:txBody>
      </p:sp>
      <p:sp>
        <p:nvSpPr>
          <p:cNvPr id="25" name="Oval 24"/>
          <p:cNvSpPr/>
          <p:nvPr/>
        </p:nvSpPr>
        <p:spPr>
          <a:xfrm>
            <a:off x="2395728" y="4873751"/>
            <a:ext cx="201168" cy="201168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37175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A47"/>
                </a:solidFill>
                <a:latin typeface="Calibri"/>
              </a:rPr>
              <a:t>30 Sep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4818887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455"/>
                </a:solidFill>
                <a:latin typeface="Calibri"/>
              </a:rPr>
              <a:t>Final submission</a:t>
            </a:r>
          </a:p>
        </p:txBody>
      </p:sp>
      <p:sp>
        <p:nvSpPr>
          <p:cNvPr id="28" name="Oval 27"/>
          <p:cNvSpPr/>
          <p:nvPr/>
        </p:nvSpPr>
        <p:spPr>
          <a:xfrm>
            <a:off x="2395728" y="5477255"/>
            <a:ext cx="201168" cy="201168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440679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A47"/>
                </a:solidFill>
                <a:latin typeface="Calibri"/>
              </a:rPr>
              <a:t>15 Oct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5422391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455"/>
                </a:solidFill>
                <a:latin typeface="Calibri"/>
              </a:rPr>
              <a:t>Award ceremony, Bangkok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FC4E6"/>
                </a:solidFill>
                <a:latin typeface="Calibri"/>
              </a:rPr>
              <a:t>IN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A Deployable Pipeline That Did Not Exist 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241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1">
                <a:solidFill>
                  <a:srgbClr val="6FB0E0"/>
                </a:solidFill>
                <a:latin typeface="Calibri"/>
              </a:rPr>
              <a:t>—  </a:t>
            </a:r>
            <a:r>
              <a:rPr sz="1700" b="0">
                <a:solidFill>
                  <a:srgbClr val="DDE8F2"/>
                </a:solidFill>
                <a:latin typeface="Calibri"/>
              </a:rPr>
              <a:t>Automates ~80% of the RDTII discover → describe workflow for Pillars 6 and 7.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6FB0E0"/>
                </a:solidFill>
                <a:latin typeface="Calibri"/>
              </a:rPr>
              <a:t>—  </a:t>
            </a:r>
            <a:r>
              <a:rPr sz="1700" b="0">
                <a:solidFill>
                  <a:srgbClr val="DDE8F2"/>
                </a:solidFill>
                <a:latin typeface="Calibri"/>
              </a:rPr>
              <a:t>Model-agnostic by design — open-weight, self-hostable, Apache 2.0.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6FB0E0"/>
                </a:solidFill>
                <a:latin typeface="Calibri"/>
              </a:rPr>
              <a:t>—  </a:t>
            </a:r>
            <a:r>
              <a:rPr sz="1700" b="0">
                <a:solidFill>
                  <a:srgbClr val="DDE8F2"/>
                </a:solidFill>
                <a:latin typeface="Calibri"/>
              </a:rPr>
              <a:t>Article-level extraction with all 6 fields, traceable citations, and confidence scores.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6FB0E0"/>
                </a:solidFill>
                <a:latin typeface="Calibri"/>
              </a:rPr>
              <a:t>—  </a:t>
            </a:r>
            <a:r>
              <a:rPr sz="1700" b="0">
                <a:solidFill>
                  <a:srgbClr val="DDE8F2"/>
                </a:solidFill>
                <a:latin typeface="Calibri"/>
              </a:rPr>
              <a:t>Human-first review and a navigable concept graph as the core contribution.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852160"/>
            <a:ext cx="4572000" cy="254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BFD2E5"/>
                </a:solidFill>
                <a:latin typeface="Calibri"/>
              </a:rPr>
              <a:t>Team Arkova   ·   Repository to be published under Apache 2.0   ·   escap-digitaltrade-hackathon@un.org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